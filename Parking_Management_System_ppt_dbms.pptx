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mbria Bold" charset="1" panose="02040803050406030204"/>
      <p:regular r:id="rId15"/>
    </p:embeddedFont>
    <p:embeddedFont>
      <p:font typeface="Calibri (MS)" charset="1" panose="020F0502020204030204"/>
      <p:regular r:id="rId16"/>
    </p:embeddedFont>
    <p:embeddedFont>
      <p:font typeface="Calibri (MS) Bold" charset="1" panose="020F07020304040302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3.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jpeg" Type="http://schemas.openxmlformats.org/officeDocument/2006/relationships/image"/><Relationship Id="rId4"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https://dev.mysql.com/doc/refman/5.5/en/" TargetMode="External" Type="http://schemas.openxmlformats.org/officeDocument/2006/relationships/hyperlink"/><Relationship Id="rId7" Target="https://www.db-book.com/"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2A5B"/>
        </a:solidFill>
      </p:bgPr>
    </p:bg>
    <p:spTree>
      <p:nvGrpSpPr>
        <p:cNvPr id="1" name=""/>
        <p:cNvGrpSpPr/>
        <p:nvPr/>
      </p:nvGrpSpPr>
      <p:grpSpPr>
        <a:xfrm>
          <a:off x="0" y="0"/>
          <a:ext cx="0" cy="0"/>
          <a:chOff x="0" y="0"/>
          <a:chExt cx="0" cy="0"/>
        </a:xfrm>
      </p:grpSpPr>
      <p:grpSp>
        <p:nvGrpSpPr>
          <p:cNvPr name="Group 2" id="2"/>
          <p:cNvGrpSpPr/>
          <p:nvPr/>
        </p:nvGrpSpPr>
        <p:grpSpPr>
          <a:xfrm rot="0">
            <a:off x="754380" y="-1545965"/>
            <a:ext cx="8915400" cy="6109450"/>
            <a:chOff x="0" y="0"/>
            <a:chExt cx="11887200" cy="8145934"/>
          </a:xfrm>
        </p:grpSpPr>
        <p:sp>
          <p:nvSpPr>
            <p:cNvPr name="Freeform 3" id="3"/>
            <p:cNvSpPr/>
            <p:nvPr/>
          </p:nvSpPr>
          <p:spPr>
            <a:xfrm flipH="false" flipV="false" rot="0">
              <a:off x="0" y="0"/>
              <a:ext cx="11887200" cy="8145934"/>
            </a:xfrm>
            <a:custGeom>
              <a:avLst/>
              <a:gdLst/>
              <a:ahLst/>
              <a:cxnLst/>
              <a:rect r="r" b="b" t="t" l="l"/>
              <a:pathLst>
                <a:path h="8145934" w="11887200">
                  <a:moveTo>
                    <a:pt x="0" y="0"/>
                  </a:moveTo>
                  <a:lnTo>
                    <a:pt x="11887200" y="0"/>
                  </a:lnTo>
                  <a:lnTo>
                    <a:pt x="11887200" y="8145934"/>
                  </a:lnTo>
                  <a:lnTo>
                    <a:pt x="0" y="8145934"/>
                  </a:lnTo>
                  <a:close/>
                </a:path>
              </a:pathLst>
            </a:custGeom>
            <a:blipFill>
              <a:blip r:embed="rId2">
                <a:alphaModFix amt="0"/>
              </a:blip>
              <a:stretch>
                <a:fillRect l="0" t="-4861" r="0" b="47992"/>
              </a:stretch>
            </a:blipFill>
          </p:spPr>
        </p:sp>
        <p:sp>
          <p:nvSpPr>
            <p:cNvPr name="TextBox 4" id="4"/>
            <p:cNvSpPr txBox="true"/>
            <p:nvPr/>
          </p:nvSpPr>
          <p:spPr>
            <a:xfrm>
              <a:off x="0" y="-9525"/>
              <a:ext cx="11887200" cy="8155459"/>
            </a:xfrm>
            <a:prstGeom prst="rect">
              <a:avLst/>
            </a:prstGeom>
          </p:spPr>
          <p:txBody>
            <a:bodyPr anchor="b" rtlCol="false" tIns="0" lIns="0" bIns="0" rIns="0"/>
            <a:lstStyle/>
            <a:p>
              <a:pPr algn="ctr">
                <a:lnSpc>
                  <a:spcPts val="8280"/>
                </a:lnSpc>
              </a:pPr>
              <a:r>
                <a:rPr lang="en-US" sz="6900" b="true">
                  <a:solidFill>
                    <a:srgbClr val="FFFFFF"/>
                  </a:solidFill>
                  <a:latin typeface="Cambria Bold"/>
                  <a:ea typeface="Cambria Bold"/>
                  <a:cs typeface="Cambria Bold"/>
                  <a:sym typeface="Cambria Bold"/>
                </a:rPr>
                <a:t>Parking Management</a:t>
              </a:r>
            </a:p>
            <a:p>
              <a:pPr algn="ctr">
                <a:lnSpc>
                  <a:spcPts val="8280"/>
                </a:lnSpc>
              </a:pPr>
              <a:r>
                <a:rPr lang="en-US" sz="6900" b="true">
                  <a:solidFill>
                    <a:srgbClr val="FFFFFF"/>
                  </a:solidFill>
                  <a:latin typeface="Cambria Bold"/>
                  <a:ea typeface="Cambria Bold"/>
                  <a:cs typeface="Cambria Bold"/>
                  <a:sym typeface="Cambria Bold"/>
                </a:rPr>
                <a:t>System</a:t>
              </a:r>
            </a:p>
          </p:txBody>
        </p:sp>
      </p:grpSp>
      <p:sp>
        <p:nvSpPr>
          <p:cNvPr name="TextBox 5" id="5"/>
          <p:cNvSpPr txBox="true"/>
          <p:nvPr/>
        </p:nvSpPr>
        <p:spPr>
          <a:xfrm rot="0">
            <a:off x="822960" y="5360670"/>
            <a:ext cx="2057400" cy="495300"/>
          </a:xfrm>
          <a:prstGeom prst="rect">
            <a:avLst/>
          </a:prstGeom>
        </p:spPr>
        <p:txBody>
          <a:bodyPr anchor="t" rtlCol="false" tIns="0" lIns="0" bIns="0" rIns="0">
            <a:spAutoFit/>
          </a:bodyPr>
          <a:lstStyle/>
          <a:p>
            <a:pPr algn="l">
              <a:lnSpc>
                <a:spcPts val="3479"/>
              </a:lnSpc>
            </a:pPr>
            <a:r>
              <a:rPr lang="en-US" sz="2899">
                <a:solidFill>
                  <a:srgbClr val="CFE3FA"/>
                </a:solidFill>
                <a:latin typeface="Calibri (MS)"/>
                <a:ea typeface="Calibri (MS)"/>
                <a:cs typeface="Calibri (MS)"/>
                <a:sym typeface="Calibri (MS)"/>
              </a:rPr>
              <a:t>Subject</a:t>
            </a:r>
          </a:p>
        </p:txBody>
      </p:sp>
      <p:sp>
        <p:nvSpPr>
          <p:cNvPr name="TextBox 6" id="6"/>
          <p:cNvSpPr txBox="true"/>
          <p:nvPr/>
        </p:nvSpPr>
        <p:spPr>
          <a:xfrm rot="0">
            <a:off x="2948940" y="5351145"/>
            <a:ext cx="6720840" cy="523875"/>
          </a:xfrm>
          <a:prstGeom prst="rect">
            <a:avLst/>
          </a:prstGeom>
        </p:spPr>
        <p:txBody>
          <a:bodyPr anchor="t" rtlCol="false" tIns="0" lIns="0" bIns="0" rIns="0">
            <a:spAutoFit/>
          </a:bodyPr>
          <a:lstStyle/>
          <a:p>
            <a:pPr algn="l">
              <a:lnSpc>
                <a:spcPts val="3659"/>
              </a:lnSpc>
            </a:pPr>
            <a:r>
              <a:rPr lang="en-US" sz="3049" b="true">
                <a:solidFill>
                  <a:srgbClr val="FFFFFF"/>
                </a:solidFill>
                <a:latin typeface="Calibri (MS) Bold"/>
                <a:ea typeface="Calibri (MS) Bold"/>
                <a:cs typeface="Calibri (MS) Bold"/>
                <a:sym typeface="Calibri (MS) Bold"/>
              </a:rPr>
              <a:t>Database Management Systems (DBMS)</a:t>
            </a:r>
          </a:p>
        </p:txBody>
      </p:sp>
      <p:sp>
        <p:nvSpPr>
          <p:cNvPr name="TextBox 7" id="7"/>
          <p:cNvSpPr txBox="true"/>
          <p:nvPr/>
        </p:nvSpPr>
        <p:spPr>
          <a:xfrm rot="0">
            <a:off x="822960" y="6457950"/>
            <a:ext cx="2057400" cy="495300"/>
          </a:xfrm>
          <a:prstGeom prst="rect">
            <a:avLst/>
          </a:prstGeom>
        </p:spPr>
        <p:txBody>
          <a:bodyPr anchor="t" rtlCol="false" tIns="0" lIns="0" bIns="0" rIns="0">
            <a:spAutoFit/>
          </a:bodyPr>
          <a:lstStyle/>
          <a:p>
            <a:pPr algn="l">
              <a:lnSpc>
                <a:spcPts val="3479"/>
              </a:lnSpc>
            </a:pPr>
            <a:r>
              <a:rPr lang="en-US" sz="2899">
                <a:solidFill>
                  <a:srgbClr val="CFE3FA"/>
                </a:solidFill>
                <a:latin typeface="Calibri (MS)"/>
                <a:ea typeface="Calibri (MS)"/>
                <a:cs typeface="Calibri (MS)"/>
                <a:sym typeface="Calibri (MS)"/>
              </a:rPr>
              <a:t>Student</a:t>
            </a:r>
          </a:p>
        </p:txBody>
      </p:sp>
      <p:sp>
        <p:nvSpPr>
          <p:cNvPr name="TextBox 8" id="8"/>
          <p:cNvSpPr txBox="true"/>
          <p:nvPr/>
        </p:nvSpPr>
        <p:spPr>
          <a:xfrm rot="0">
            <a:off x="2948940" y="6448425"/>
            <a:ext cx="6720840" cy="1895475"/>
          </a:xfrm>
          <a:prstGeom prst="rect">
            <a:avLst/>
          </a:prstGeom>
        </p:spPr>
        <p:txBody>
          <a:bodyPr anchor="t" rtlCol="false" tIns="0" lIns="0" bIns="0" rIns="0">
            <a:spAutoFit/>
          </a:bodyPr>
          <a:lstStyle/>
          <a:p>
            <a:pPr algn="l">
              <a:lnSpc>
                <a:spcPts val="3659"/>
              </a:lnSpc>
            </a:pPr>
            <a:r>
              <a:rPr lang="en-US" sz="3049" b="true">
                <a:solidFill>
                  <a:srgbClr val="F2B233"/>
                </a:solidFill>
                <a:latin typeface="Calibri (MS) Bold"/>
                <a:ea typeface="Calibri (MS) Bold"/>
                <a:cs typeface="Calibri (MS) Bold"/>
                <a:sym typeface="Calibri (MS) Bold"/>
              </a:rPr>
              <a:t>Laxmi Panjwani -1262252366</a:t>
            </a:r>
          </a:p>
          <a:p>
            <a:pPr algn="l">
              <a:lnSpc>
                <a:spcPts val="3659"/>
              </a:lnSpc>
            </a:pPr>
            <a:r>
              <a:rPr lang="en-US" sz="3049" b="true">
                <a:solidFill>
                  <a:srgbClr val="F2B233"/>
                </a:solidFill>
                <a:latin typeface="Calibri (MS) Bold"/>
                <a:ea typeface="Calibri (MS) Bold"/>
                <a:cs typeface="Calibri (MS) Bold"/>
                <a:sym typeface="Calibri (MS) Bold"/>
              </a:rPr>
              <a:t>Gargi Chincholikar- 1262253218</a:t>
            </a:r>
          </a:p>
          <a:p>
            <a:pPr algn="l">
              <a:lnSpc>
                <a:spcPts val="3659"/>
              </a:lnSpc>
            </a:pPr>
            <a:r>
              <a:rPr lang="en-US" sz="3049" b="true">
                <a:solidFill>
                  <a:srgbClr val="F2B233"/>
                </a:solidFill>
                <a:latin typeface="Calibri (MS) Bold"/>
                <a:ea typeface="Calibri (MS) Bold"/>
                <a:cs typeface="Calibri (MS) Bold"/>
                <a:sym typeface="Calibri (MS) Bold"/>
              </a:rPr>
              <a:t>Namya Baranwal- 12262252097</a:t>
            </a:r>
          </a:p>
          <a:p>
            <a:pPr algn="l">
              <a:lnSpc>
                <a:spcPts val="3659"/>
              </a:lnSpc>
            </a:pPr>
            <a:r>
              <a:rPr lang="en-US" sz="3049" b="true">
                <a:solidFill>
                  <a:srgbClr val="F2B233"/>
                </a:solidFill>
                <a:latin typeface="Calibri (MS) Bold"/>
                <a:ea typeface="Calibri (MS) Bold"/>
                <a:cs typeface="Calibri (MS) Bold"/>
                <a:sym typeface="Calibri (MS) Bold"/>
              </a:rPr>
              <a:t>Archita Suman-1262252977</a:t>
            </a:r>
          </a:p>
        </p:txBody>
      </p:sp>
      <p:grpSp>
        <p:nvGrpSpPr>
          <p:cNvPr name="Group 9" id="9"/>
          <p:cNvGrpSpPr/>
          <p:nvPr/>
        </p:nvGrpSpPr>
        <p:grpSpPr>
          <a:xfrm rot="0">
            <a:off x="10012680" y="960120"/>
            <a:ext cx="7543800" cy="8366760"/>
            <a:chOff x="0" y="0"/>
            <a:chExt cx="10058400" cy="11155680"/>
          </a:xfrm>
        </p:grpSpPr>
        <p:sp>
          <p:nvSpPr>
            <p:cNvPr name="Freeform 10" id="10"/>
            <p:cNvSpPr/>
            <p:nvPr/>
          </p:nvSpPr>
          <p:spPr>
            <a:xfrm flipH="false" flipV="false" rot="0">
              <a:off x="0" y="0"/>
              <a:ext cx="10058400" cy="11155680"/>
            </a:xfrm>
            <a:custGeom>
              <a:avLst/>
              <a:gdLst/>
              <a:ahLst/>
              <a:cxnLst/>
              <a:rect r="r" b="b" t="t" l="l"/>
              <a:pathLst>
                <a:path h="11155680" w="10058400">
                  <a:moveTo>
                    <a:pt x="0" y="182880"/>
                  </a:moveTo>
                  <a:cubicBezTo>
                    <a:pt x="0" y="81915"/>
                    <a:pt x="81915" y="0"/>
                    <a:pt x="182880" y="0"/>
                  </a:cubicBezTo>
                  <a:lnTo>
                    <a:pt x="9875520" y="0"/>
                  </a:lnTo>
                  <a:cubicBezTo>
                    <a:pt x="9976485" y="0"/>
                    <a:pt x="10058400" y="81915"/>
                    <a:pt x="10058400" y="182880"/>
                  </a:cubicBezTo>
                  <a:lnTo>
                    <a:pt x="10058400" y="10972800"/>
                  </a:lnTo>
                  <a:cubicBezTo>
                    <a:pt x="10058400" y="11073765"/>
                    <a:pt x="9976485" y="11155680"/>
                    <a:pt x="9875520" y="11155680"/>
                  </a:cubicBezTo>
                  <a:lnTo>
                    <a:pt x="182880" y="11155680"/>
                  </a:lnTo>
                  <a:cubicBezTo>
                    <a:pt x="81915" y="11155680"/>
                    <a:pt x="0" y="11073765"/>
                    <a:pt x="0" y="10972800"/>
                  </a:cubicBezTo>
                  <a:close/>
                </a:path>
              </a:pathLst>
            </a:custGeom>
            <a:solidFill>
              <a:srgbClr val="FFFFFF"/>
            </a:solidFill>
          </p:spPr>
        </p:sp>
      </p:grpSp>
      <p:grpSp>
        <p:nvGrpSpPr>
          <p:cNvPr name="Group 11" id="11"/>
          <p:cNvGrpSpPr/>
          <p:nvPr/>
        </p:nvGrpSpPr>
        <p:grpSpPr>
          <a:xfrm rot="0">
            <a:off x="10492740" y="1303020"/>
            <a:ext cx="822960" cy="822960"/>
            <a:chOff x="0" y="0"/>
            <a:chExt cx="1097280" cy="1097280"/>
          </a:xfrm>
        </p:grpSpPr>
        <p:sp>
          <p:nvSpPr>
            <p:cNvPr name="Freeform 12" id="1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2A5B"/>
            </a:solidFill>
          </p:spPr>
        </p:sp>
      </p:grpSp>
      <p:grpSp>
        <p:nvGrpSpPr>
          <p:cNvPr name="Group 13" id="13"/>
          <p:cNvGrpSpPr/>
          <p:nvPr/>
        </p:nvGrpSpPr>
        <p:grpSpPr>
          <a:xfrm rot="0">
            <a:off x="10698480" y="1508760"/>
            <a:ext cx="411480" cy="411480"/>
            <a:chOff x="0" y="0"/>
            <a:chExt cx="548640" cy="548640"/>
          </a:xfrm>
        </p:grpSpPr>
        <p:sp>
          <p:nvSpPr>
            <p:cNvPr name="Freeform 14" id="14"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3"/>
              <a:stretch>
                <a:fillRect l="0" t="0" r="0" b="0"/>
              </a:stretch>
            </a:blipFill>
          </p:spPr>
        </p:sp>
      </p:grpSp>
      <p:grpSp>
        <p:nvGrpSpPr>
          <p:cNvPr name="Group 15" id="15"/>
          <p:cNvGrpSpPr/>
          <p:nvPr/>
        </p:nvGrpSpPr>
        <p:grpSpPr>
          <a:xfrm rot="0">
            <a:off x="11521440" y="1412748"/>
            <a:ext cx="4800600" cy="617220"/>
            <a:chOff x="0" y="0"/>
            <a:chExt cx="6400800" cy="822960"/>
          </a:xfrm>
        </p:grpSpPr>
        <p:sp>
          <p:nvSpPr>
            <p:cNvPr name="Freeform 16" id="16"/>
            <p:cNvSpPr/>
            <p:nvPr/>
          </p:nvSpPr>
          <p:spPr>
            <a:xfrm flipH="false" flipV="false" rot="0">
              <a:off x="0" y="0"/>
              <a:ext cx="6400800" cy="822960"/>
            </a:xfrm>
            <a:custGeom>
              <a:avLst/>
              <a:gdLst/>
              <a:ahLst/>
              <a:cxnLst/>
              <a:rect r="r" b="b" t="t" l="l"/>
              <a:pathLst>
                <a:path h="822960" w="6400800">
                  <a:moveTo>
                    <a:pt x="0" y="0"/>
                  </a:moveTo>
                  <a:lnTo>
                    <a:pt x="6400800" y="0"/>
                  </a:lnTo>
                  <a:lnTo>
                    <a:pt x="6400800" y="822960"/>
                  </a:lnTo>
                  <a:lnTo>
                    <a:pt x="0" y="822960"/>
                  </a:lnTo>
                  <a:close/>
                </a:path>
              </a:pathLst>
            </a:custGeom>
            <a:blipFill>
              <a:blip r:embed="rId2">
                <a:alphaModFix amt="0"/>
              </a:blip>
              <a:stretch>
                <a:fillRect l="0" t="-101550" r="0" b="-101550"/>
              </a:stretch>
            </a:blipFill>
          </p:spPr>
        </p:sp>
        <p:sp>
          <p:nvSpPr>
            <p:cNvPr name="TextBox 17" id="17"/>
            <p:cNvSpPr txBox="true"/>
            <p:nvPr/>
          </p:nvSpPr>
          <p:spPr>
            <a:xfrm>
              <a:off x="0" y="-66675"/>
              <a:ext cx="6400800" cy="889635"/>
            </a:xfrm>
            <a:prstGeom prst="rect">
              <a:avLst/>
            </a:prstGeom>
          </p:spPr>
          <p:txBody>
            <a:bodyPr anchor="ctr" rtlCol="false" tIns="0" lIns="0" bIns="0" rIns="0"/>
            <a:lstStyle/>
            <a:p>
              <a:pPr algn="l">
                <a:lnSpc>
                  <a:spcPts val="3600"/>
                </a:lnSpc>
              </a:pPr>
              <a:r>
                <a:rPr lang="en-US" sz="3000" b="true">
                  <a:solidFill>
                    <a:srgbClr val="0B2A5B"/>
                  </a:solidFill>
                  <a:latin typeface="Calibri (MS) Bold"/>
                  <a:ea typeface="Calibri (MS) Bold"/>
                  <a:cs typeface="Calibri (MS) Bold"/>
                  <a:sym typeface="Calibri (MS) Bold"/>
                </a:rPr>
                <a:t>Abstract</a:t>
              </a:r>
            </a:p>
          </p:txBody>
        </p:sp>
      </p:grpSp>
      <p:sp>
        <p:nvSpPr>
          <p:cNvPr name="TextBox 18" id="18"/>
          <p:cNvSpPr txBox="true"/>
          <p:nvPr/>
        </p:nvSpPr>
        <p:spPr>
          <a:xfrm rot="0">
            <a:off x="10492740" y="2430780"/>
            <a:ext cx="6583680" cy="3878580"/>
          </a:xfrm>
          <a:prstGeom prst="rect">
            <a:avLst/>
          </a:prstGeom>
        </p:spPr>
        <p:txBody>
          <a:bodyPr anchor="t" rtlCol="false" tIns="0" lIns="0" bIns="0" rIns="0">
            <a:spAutoFit/>
          </a:bodyPr>
          <a:lstStyle/>
          <a:p>
            <a:pPr algn="l">
              <a:lnSpc>
                <a:spcPts val="2879"/>
              </a:lnSpc>
            </a:pPr>
            <a:r>
              <a:rPr lang="en-US" sz="2400">
                <a:solidFill>
                  <a:srgbClr val="0A1A33"/>
                </a:solidFill>
                <a:latin typeface="Calibri (MS)"/>
                <a:ea typeface="Calibri (MS)"/>
                <a:cs typeface="Calibri (MS)"/>
                <a:sym typeface="Calibri (MS)"/>
              </a:rPr>
              <a:t>This project builds a relational database that replaces manual parking registers. Four linked tables store customers, vehicles, parking slots and parking records. Keys and constraints keep the data consistent, while SQL queries, JOINs and views retrieve complete parking details, show available slots and calculate total revenue, all executed in MySQL 5.5.</a:t>
            </a:r>
          </a:p>
        </p:txBody>
      </p:sp>
      <p:grpSp>
        <p:nvGrpSpPr>
          <p:cNvPr name="Group 19" id="19"/>
          <p:cNvGrpSpPr/>
          <p:nvPr/>
        </p:nvGrpSpPr>
        <p:grpSpPr>
          <a:xfrm rot="0">
            <a:off x="10492740" y="6652260"/>
            <a:ext cx="1028700" cy="1028700"/>
            <a:chOff x="0" y="0"/>
            <a:chExt cx="1371600" cy="1371600"/>
          </a:xfrm>
        </p:grpSpPr>
        <p:sp>
          <p:nvSpPr>
            <p:cNvPr name="Freeform 20" id="20"/>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468C9"/>
            </a:solidFill>
          </p:spPr>
        </p:sp>
      </p:grpSp>
      <p:grpSp>
        <p:nvGrpSpPr>
          <p:cNvPr name="Group 21" id="21"/>
          <p:cNvGrpSpPr/>
          <p:nvPr/>
        </p:nvGrpSpPr>
        <p:grpSpPr>
          <a:xfrm rot="0">
            <a:off x="10749915" y="6909435"/>
            <a:ext cx="514350" cy="514350"/>
            <a:chOff x="0" y="0"/>
            <a:chExt cx="685800" cy="685800"/>
          </a:xfrm>
        </p:grpSpPr>
        <p:sp>
          <p:nvSpPr>
            <p:cNvPr name="Freeform 22" id="22"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4"/>
              <a:stretch>
                <a:fillRect l="0" t="0" r="0" b="0"/>
              </a:stretch>
            </a:blipFill>
          </p:spPr>
        </p:sp>
      </p:grpSp>
      <p:sp>
        <p:nvSpPr>
          <p:cNvPr name="TextBox 23" id="23"/>
          <p:cNvSpPr txBox="true"/>
          <p:nvPr/>
        </p:nvSpPr>
        <p:spPr>
          <a:xfrm rot="0">
            <a:off x="10081260" y="7780020"/>
            <a:ext cx="1851660" cy="449580"/>
          </a:xfrm>
          <a:prstGeom prst="rect">
            <a:avLst/>
          </a:prstGeom>
        </p:spPr>
        <p:txBody>
          <a:bodyPr anchor="t" rtlCol="false" tIns="0" lIns="0" bIns="0" rIns="0">
            <a:spAutoFit/>
          </a:bodyPr>
          <a:lstStyle/>
          <a:p>
            <a:pPr algn="ctr">
              <a:lnSpc>
                <a:spcPts val="2160"/>
              </a:lnSpc>
            </a:pPr>
            <a:r>
              <a:rPr lang="en-US" sz="1800">
                <a:solidFill>
                  <a:srgbClr val="0A1A33"/>
                </a:solidFill>
                <a:latin typeface="Calibri (MS)"/>
                <a:ea typeface="Calibri (MS)"/>
                <a:cs typeface="Calibri (MS)"/>
                <a:sym typeface="Calibri (MS)"/>
              </a:rPr>
              <a:t>Customers</a:t>
            </a:r>
          </a:p>
        </p:txBody>
      </p:sp>
      <p:sp>
        <p:nvSpPr>
          <p:cNvPr name="TextBox 24" id="24"/>
          <p:cNvSpPr txBox="true"/>
          <p:nvPr/>
        </p:nvSpPr>
        <p:spPr>
          <a:xfrm rot="0">
            <a:off x="11521440" y="6791325"/>
            <a:ext cx="822960" cy="683895"/>
          </a:xfrm>
          <a:prstGeom prst="rect">
            <a:avLst/>
          </a:prstGeom>
        </p:spPr>
        <p:txBody>
          <a:bodyPr anchor="t" rtlCol="false" tIns="0" lIns="0" bIns="0" rIns="0">
            <a:spAutoFit/>
          </a:bodyPr>
          <a:lstStyle/>
          <a:p>
            <a:pPr algn="ctr">
              <a:lnSpc>
                <a:spcPts val="3600"/>
              </a:lnSpc>
            </a:pPr>
            <a:r>
              <a:rPr lang="en-US" sz="3000" b="true">
                <a:solidFill>
                  <a:srgbClr val="2468C9"/>
                </a:solidFill>
                <a:latin typeface="Calibri (MS) Bold"/>
                <a:ea typeface="Calibri (MS) Bold"/>
                <a:cs typeface="Calibri (MS) Bold"/>
                <a:sym typeface="Calibri (MS) Bold"/>
              </a:rPr>
              <a:t>→</a:t>
            </a:r>
          </a:p>
        </p:txBody>
      </p:sp>
      <p:grpSp>
        <p:nvGrpSpPr>
          <p:cNvPr name="Group 25" id="25"/>
          <p:cNvGrpSpPr/>
          <p:nvPr/>
        </p:nvGrpSpPr>
        <p:grpSpPr>
          <a:xfrm rot="0">
            <a:off x="12344400" y="6652260"/>
            <a:ext cx="1028700" cy="1028700"/>
            <a:chOff x="0" y="0"/>
            <a:chExt cx="1371600" cy="1371600"/>
          </a:xfrm>
        </p:grpSpPr>
        <p:sp>
          <p:nvSpPr>
            <p:cNvPr name="Freeform 26" id="26"/>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468C9"/>
            </a:solidFill>
          </p:spPr>
        </p:sp>
      </p:grpSp>
      <p:grpSp>
        <p:nvGrpSpPr>
          <p:cNvPr name="Group 27" id="27"/>
          <p:cNvGrpSpPr/>
          <p:nvPr/>
        </p:nvGrpSpPr>
        <p:grpSpPr>
          <a:xfrm rot="0">
            <a:off x="12601575" y="6909435"/>
            <a:ext cx="514350" cy="514350"/>
            <a:chOff x="0" y="0"/>
            <a:chExt cx="685800" cy="685800"/>
          </a:xfrm>
        </p:grpSpPr>
        <p:sp>
          <p:nvSpPr>
            <p:cNvPr name="Freeform 28" id="28"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5"/>
              <a:stretch>
                <a:fillRect l="0" t="0" r="0" b="0"/>
              </a:stretch>
            </a:blipFill>
          </p:spPr>
        </p:sp>
      </p:grpSp>
      <p:sp>
        <p:nvSpPr>
          <p:cNvPr name="TextBox 29" id="29"/>
          <p:cNvSpPr txBox="true"/>
          <p:nvPr/>
        </p:nvSpPr>
        <p:spPr>
          <a:xfrm rot="0">
            <a:off x="11932920" y="7780020"/>
            <a:ext cx="1851660" cy="449580"/>
          </a:xfrm>
          <a:prstGeom prst="rect">
            <a:avLst/>
          </a:prstGeom>
        </p:spPr>
        <p:txBody>
          <a:bodyPr anchor="t" rtlCol="false" tIns="0" lIns="0" bIns="0" rIns="0">
            <a:spAutoFit/>
          </a:bodyPr>
          <a:lstStyle/>
          <a:p>
            <a:pPr algn="ctr">
              <a:lnSpc>
                <a:spcPts val="2160"/>
              </a:lnSpc>
            </a:pPr>
            <a:r>
              <a:rPr lang="en-US" sz="1800">
                <a:solidFill>
                  <a:srgbClr val="0A1A33"/>
                </a:solidFill>
                <a:latin typeface="Calibri (MS)"/>
                <a:ea typeface="Calibri (MS)"/>
                <a:cs typeface="Calibri (MS)"/>
                <a:sym typeface="Calibri (MS)"/>
              </a:rPr>
              <a:t>Vehicles</a:t>
            </a:r>
          </a:p>
        </p:txBody>
      </p:sp>
      <p:sp>
        <p:nvSpPr>
          <p:cNvPr name="TextBox 30" id="30"/>
          <p:cNvSpPr txBox="true"/>
          <p:nvPr/>
        </p:nvSpPr>
        <p:spPr>
          <a:xfrm rot="0">
            <a:off x="13373100" y="6791325"/>
            <a:ext cx="822960" cy="683895"/>
          </a:xfrm>
          <a:prstGeom prst="rect">
            <a:avLst/>
          </a:prstGeom>
        </p:spPr>
        <p:txBody>
          <a:bodyPr anchor="t" rtlCol="false" tIns="0" lIns="0" bIns="0" rIns="0">
            <a:spAutoFit/>
          </a:bodyPr>
          <a:lstStyle/>
          <a:p>
            <a:pPr algn="ctr">
              <a:lnSpc>
                <a:spcPts val="3600"/>
              </a:lnSpc>
            </a:pPr>
            <a:r>
              <a:rPr lang="en-US" sz="3000" b="true">
                <a:solidFill>
                  <a:srgbClr val="2468C9"/>
                </a:solidFill>
                <a:latin typeface="Calibri (MS) Bold"/>
                <a:ea typeface="Calibri (MS) Bold"/>
                <a:cs typeface="Calibri (MS) Bold"/>
                <a:sym typeface="Calibri (MS) Bold"/>
              </a:rPr>
              <a:t>→</a:t>
            </a:r>
          </a:p>
        </p:txBody>
      </p:sp>
      <p:grpSp>
        <p:nvGrpSpPr>
          <p:cNvPr name="Group 31" id="31"/>
          <p:cNvGrpSpPr/>
          <p:nvPr/>
        </p:nvGrpSpPr>
        <p:grpSpPr>
          <a:xfrm rot="0">
            <a:off x="14196060" y="6652260"/>
            <a:ext cx="1028700" cy="1028700"/>
            <a:chOff x="0" y="0"/>
            <a:chExt cx="1371600" cy="1371600"/>
          </a:xfrm>
        </p:grpSpPr>
        <p:sp>
          <p:nvSpPr>
            <p:cNvPr name="Freeform 32" id="32"/>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468C9"/>
            </a:solidFill>
          </p:spPr>
        </p:sp>
      </p:grpSp>
      <p:grpSp>
        <p:nvGrpSpPr>
          <p:cNvPr name="Group 33" id="33"/>
          <p:cNvGrpSpPr/>
          <p:nvPr/>
        </p:nvGrpSpPr>
        <p:grpSpPr>
          <a:xfrm rot="0">
            <a:off x="14453235" y="6909435"/>
            <a:ext cx="514350" cy="514350"/>
            <a:chOff x="0" y="0"/>
            <a:chExt cx="685800" cy="685800"/>
          </a:xfrm>
        </p:grpSpPr>
        <p:sp>
          <p:nvSpPr>
            <p:cNvPr name="Freeform 34" id="34"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6"/>
              <a:stretch>
                <a:fillRect l="0" t="0" r="0" b="0"/>
              </a:stretch>
            </a:blipFill>
          </p:spPr>
        </p:sp>
      </p:grpSp>
      <p:sp>
        <p:nvSpPr>
          <p:cNvPr name="TextBox 35" id="35"/>
          <p:cNvSpPr txBox="true"/>
          <p:nvPr/>
        </p:nvSpPr>
        <p:spPr>
          <a:xfrm rot="0">
            <a:off x="13784580" y="7780020"/>
            <a:ext cx="1851660" cy="449580"/>
          </a:xfrm>
          <a:prstGeom prst="rect">
            <a:avLst/>
          </a:prstGeom>
        </p:spPr>
        <p:txBody>
          <a:bodyPr anchor="t" rtlCol="false" tIns="0" lIns="0" bIns="0" rIns="0">
            <a:spAutoFit/>
          </a:bodyPr>
          <a:lstStyle/>
          <a:p>
            <a:pPr algn="ctr">
              <a:lnSpc>
                <a:spcPts val="2160"/>
              </a:lnSpc>
            </a:pPr>
            <a:r>
              <a:rPr lang="en-US" sz="1800">
                <a:solidFill>
                  <a:srgbClr val="0A1A33"/>
                </a:solidFill>
                <a:latin typeface="Calibri (MS)"/>
                <a:ea typeface="Calibri (MS)"/>
                <a:cs typeface="Calibri (MS)"/>
                <a:sym typeface="Calibri (MS)"/>
              </a:rPr>
              <a:t>Parking slots</a:t>
            </a:r>
          </a:p>
        </p:txBody>
      </p:sp>
      <p:sp>
        <p:nvSpPr>
          <p:cNvPr name="TextBox 36" id="36"/>
          <p:cNvSpPr txBox="true"/>
          <p:nvPr/>
        </p:nvSpPr>
        <p:spPr>
          <a:xfrm rot="0">
            <a:off x="15224760" y="6791325"/>
            <a:ext cx="822960" cy="683895"/>
          </a:xfrm>
          <a:prstGeom prst="rect">
            <a:avLst/>
          </a:prstGeom>
        </p:spPr>
        <p:txBody>
          <a:bodyPr anchor="t" rtlCol="false" tIns="0" lIns="0" bIns="0" rIns="0">
            <a:spAutoFit/>
          </a:bodyPr>
          <a:lstStyle/>
          <a:p>
            <a:pPr algn="ctr">
              <a:lnSpc>
                <a:spcPts val="3600"/>
              </a:lnSpc>
            </a:pPr>
            <a:r>
              <a:rPr lang="en-US" sz="3000" b="true">
                <a:solidFill>
                  <a:srgbClr val="2468C9"/>
                </a:solidFill>
                <a:latin typeface="Calibri (MS) Bold"/>
                <a:ea typeface="Calibri (MS) Bold"/>
                <a:cs typeface="Calibri (MS) Bold"/>
                <a:sym typeface="Calibri (MS) Bold"/>
              </a:rPr>
              <a:t>←</a:t>
            </a:r>
          </a:p>
        </p:txBody>
      </p:sp>
      <p:grpSp>
        <p:nvGrpSpPr>
          <p:cNvPr name="Group 37" id="37"/>
          <p:cNvGrpSpPr/>
          <p:nvPr/>
        </p:nvGrpSpPr>
        <p:grpSpPr>
          <a:xfrm rot="0">
            <a:off x="16047720" y="6652260"/>
            <a:ext cx="1028700" cy="1028700"/>
            <a:chOff x="0" y="0"/>
            <a:chExt cx="1371600" cy="1371600"/>
          </a:xfrm>
        </p:grpSpPr>
        <p:sp>
          <p:nvSpPr>
            <p:cNvPr name="Freeform 38" id="38"/>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468C9"/>
            </a:solidFill>
          </p:spPr>
        </p:sp>
      </p:grpSp>
      <p:grpSp>
        <p:nvGrpSpPr>
          <p:cNvPr name="Group 39" id="39"/>
          <p:cNvGrpSpPr/>
          <p:nvPr/>
        </p:nvGrpSpPr>
        <p:grpSpPr>
          <a:xfrm rot="0">
            <a:off x="16304895" y="6909435"/>
            <a:ext cx="514350" cy="514350"/>
            <a:chOff x="0" y="0"/>
            <a:chExt cx="685800" cy="685800"/>
          </a:xfrm>
        </p:grpSpPr>
        <p:sp>
          <p:nvSpPr>
            <p:cNvPr name="Freeform 40" id="40" descr="preencoded.png"/>
            <p:cNvSpPr/>
            <p:nvPr/>
          </p:nvSpPr>
          <p:spPr>
            <a:xfrm flipH="false" flipV="false" rot="0">
              <a:off x="0" y="0"/>
              <a:ext cx="685800" cy="685800"/>
            </a:xfrm>
            <a:custGeom>
              <a:avLst/>
              <a:gdLst/>
              <a:ahLst/>
              <a:cxnLst/>
              <a:rect r="r" b="b" t="t" l="l"/>
              <a:pathLst>
                <a:path h="685800" w="685800">
                  <a:moveTo>
                    <a:pt x="0" y="0"/>
                  </a:moveTo>
                  <a:lnTo>
                    <a:pt x="685800" y="0"/>
                  </a:lnTo>
                  <a:lnTo>
                    <a:pt x="685800" y="685800"/>
                  </a:lnTo>
                  <a:lnTo>
                    <a:pt x="0" y="685800"/>
                  </a:lnTo>
                  <a:lnTo>
                    <a:pt x="0" y="0"/>
                  </a:lnTo>
                  <a:close/>
                </a:path>
              </a:pathLst>
            </a:custGeom>
            <a:blipFill>
              <a:blip r:embed="rId7"/>
              <a:stretch>
                <a:fillRect l="0" t="0" r="0" b="0"/>
              </a:stretch>
            </a:blipFill>
          </p:spPr>
        </p:sp>
      </p:grpSp>
      <p:sp>
        <p:nvSpPr>
          <p:cNvPr name="TextBox 41" id="41"/>
          <p:cNvSpPr txBox="true"/>
          <p:nvPr/>
        </p:nvSpPr>
        <p:spPr>
          <a:xfrm rot="0">
            <a:off x="15636240" y="7780020"/>
            <a:ext cx="1851660" cy="449580"/>
          </a:xfrm>
          <a:prstGeom prst="rect">
            <a:avLst/>
          </a:prstGeom>
        </p:spPr>
        <p:txBody>
          <a:bodyPr anchor="t" rtlCol="false" tIns="0" lIns="0" bIns="0" rIns="0">
            <a:spAutoFit/>
          </a:bodyPr>
          <a:lstStyle/>
          <a:p>
            <a:pPr algn="ctr">
              <a:lnSpc>
                <a:spcPts val="2160"/>
              </a:lnSpc>
            </a:pPr>
            <a:r>
              <a:rPr lang="en-US" sz="1800">
                <a:solidFill>
                  <a:srgbClr val="0A1A33"/>
                </a:solidFill>
                <a:latin typeface="Calibri (MS)"/>
                <a:ea typeface="Calibri (MS)"/>
                <a:cs typeface="Calibri (MS)"/>
                <a:sym typeface="Calibri (MS)"/>
              </a:rPr>
              <a:t>Parking records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685800" y="411480"/>
            <a:ext cx="16911828" cy="1234440"/>
            <a:chOff x="0" y="0"/>
            <a:chExt cx="22549104" cy="1645920"/>
          </a:xfrm>
        </p:grpSpPr>
        <p:sp>
          <p:nvSpPr>
            <p:cNvPr name="Freeform 6" id="6"/>
            <p:cNvSpPr/>
            <p:nvPr/>
          </p:nvSpPr>
          <p:spPr>
            <a:xfrm flipH="false" flipV="false" rot="0">
              <a:off x="0" y="0"/>
              <a:ext cx="22549104" cy="1645920"/>
            </a:xfrm>
            <a:custGeom>
              <a:avLst/>
              <a:gdLst/>
              <a:ahLst/>
              <a:cxnLst/>
              <a:rect r="r" b="b" t="t" l="l"/>
              <a:pathLst>
                <a:path h="1645920" w="22549104">
                  <a:moveTo>
                    <a:pt x="0" y="0"/>
                  </a:moveTo>
                  <a:lnTo>
                    <a:pt x="22549104" y="0"/>
                  </a:lnTo>
                  <a:lnTo>
                    <a:pt x="22549104" y="1645920"/>
                  </a:lnTo>
                  <a:lnTo>
                    <a:pt x="0" y="1645920"/>
                  </a:lnTo>
                  <a:close/>
                </a:path>
              </a:pathLst>
            </a:custGeom>
            <a:blipFill>
              <a:blip r:embed="rId2">
                <a:alphaModFix amt="0"/>
              </a:blip>
              <a:stretch>
                <a:fillRect l="0" t="-216945" r="0" b="-216945"/>
              </a:stretch>
            </a:blipFill>
          </p:spPr>
        </p:sp>
        <p:sp>
          <p:nvSpPr>
            <p:cNvPr name="TextBox 7" id="7"/>
            <p:cNvSpPr txBox="true"/>
            <p:nvPr/>
          </p:nvSpPr>
          <p:spPr>
            <a:xfrm>
              <a:off x="0" y="-9525"/>
              <a:ext cx="22549104" cy="165544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Introduction &amp; Application</a:t>
              </a:r>
            </a:p>
          </p:txBody>
        </p:sp>
      </p:grpSp>
      <p:grpSp>
        <p:nvGrpSpPr>
          <p:cNvPr name="Group 8" id="8"/>
          <p:cNvGrpSpPr/>
          <p:nvPr/>
        </p:nvGrpSpPr>
        <p:grpSpPr>
          <a:xfrm rot="0">
            <a:off x="685800" y="1988820"/>
            <a:ext cx="6858000" cy="3017520"/>
            <a:chOff x="0" y="0"/>
            <a:chExt cx="9144000" cy="4023360"/>
          </a:xfrm>
        </p:grpSpPr>
        <p:sp>
          <p:nvSpPr>
            <p:cNvPr name="Freeform 9" id="9"/>
            <p:cNvSpPr/>
            <p:nvPr/>
          </p:nvSpPr>
          <p:spPr>
            <a:xfrm flipH="false" flipV="false" rot="0">
              <a:off x="0" y="0"/>
              <a:ext cx="9144000" cy="4023360"/>
            </a:xfrm>
            <a:custGeom>
              <a:avLst/>
              <a:gdLst/>
              <a:ahLst/>
              <a:cxnLst/>
              <a:rect r="r" b="b" t="t" l="l"/>
              <a:pathLst>
                <a:path h="4023360" w="9144000">
                  <a:moveTo>
                    <a:pt x="0" y="182880"/>
                  </a:moveTo>
                  <a:cubicBezTo>
                    <a:pt x="0" y="81915"/>
                    <a:pt x="81915" y="0"/>
                    <a:pt x="182880" y="0"/>
                  </a:cubicBezTo>
                  <a:lnTo>
                    <a:pt x="8961120" y="0"/>
                  </a:lnTo>
                  <a:cubicBezTo>
                    <a:pt x="9062085" y="0"/>
                    <a:pt x="9144000" y="81915"/>
                    <a:pt x="9144000" y="182880"/>
                  </a:cubicBezTo>
                  <a:lnTo>
                    <a:pt x="9144000" y="3840480"/>
                  </a:lnTo>
                  <a:cubicBezTo>
                    <a:pt x="9144000" y="3941445"/>
                    <a:pt x="9062085" y="4023360"/>
                    <a:pt x="8961120" y="4023360"/>
                  </a:cubicBezTo>
                  <a:lnTo>
                    <a:pt x="182880" y="4023360"/>
                  </a:lnTo>
                  <a:cubicBezTo>
                    <a:pt x="81915" y="4023360"/>
                    <a:pt x="0" y="3941445"/>
                    <a:pt x="0" y="3840480"/>
                  </a:cubicBezTo>
                  <a:close/>
                </a:path>
              </a:pathLst>
            </a:custGeom>
            <a:solidFill>
              <a:srgbClr val="EAF2FC"/>
            </a:solidFill>
          </p:spPr>
        </p:sp>
      </p:grpSp>
      <p:grpSp>
        <p:nvGrpSpPr>
          <p:cNvPr name="Group 10" id="10"/>
          <p:cNvGrpSpPr/>
          <p:nvPr/>
        </p:nvGrpSpPr>
        <p:grpSpPr>
          <a:xfrm rot="0">
            <a:off x="1028700" y="2221992"/>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2468C9"/>
            </a:solidFill>
          </p:spPr>
        </p:sp>
      </p:grpSp>
      <p:grpSp>
        <p:nvGrpSpPr>
          <p:cNvPr name="Group 12" id="12"/>
          <p:cNvGrpSpPr/>
          <p:nvPr/>
        </p:nvGrpSpPr>
        <p:grpSpPr>
          <a:xfrm rot="0">
            <a:off x="1200150" y="2393442"/>
            <a:ext cx="342900" cy="342900"/>
            <a:chOff x="0" y="0"/>
            <a:chExt cx="457200" cy="457200"/>
          </a:xfrm>
        </p:grpSpPr>
        <p:sp>
          <p:nvSpPr>
            <p:cNvPr name="Freeform 13" id="13"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stretch>
                <a:fillRect l="0" t="0" r="0" b="0"/>
              </a:stretch>
            </a:blipFill>
          </p:spPr>
        </p:sp>
      </p:grpSp>
      <p:grpSp>
        <p:nvGrpSpPr>
          <p:cNvPr name="Group 14" id="14"/>
          <p:cNvGrpSpPr/>
          <p:nvPr/>
        </p:nvGrpSpPr>
        <p:grpSpPr>
          <a:xfrm rot="0">
            <a:off x="1920240" y="2263140"/>
            <a:ext cx="4800600" cy="617220"/>
            <a:chOff x="0" y="0"/>
            <a:chExt cx="6400800" cy="822960"/>
          </a:xfrm>
        </p:grpSpPr>
        <p:sp>
          <p:nvSpPr>
            <p:cNvPr name="Freeform 15" id="15"/>
            <p:cNvSpPr/>
            <p:nvPr/>
          </p:nvSpPr>
          <p:spPr>
            <a:xfrm flipH="false" flipV="false" rot="0">
              <a:off x="0" y="0"/>
              <a:ext cx="6400800" cy="822960"/>
            </a:xfrm>
            <a:custGeom>
              <a:avLst/>
              <a:gdLst/>
              <a:ahLst/>
              <a:cxnLst/>
              <a:rect r="r" b="b" t="t" l="l"/>
              <a:pathLst>
                <a:path h="822960" w="6400800">
                  <a:moveTo>
                    <a:pt x="0" y="0"/>
                  </a:moveTo>
                  <a:lnTo>
                    <a:pt x="6400800" y="0"/>
                  </a:lnTo>
                  <a:lnTo>
                    <a:pt x="6400800" y="822960"/>
                  </a:lnTo>
                  <a:lnTo>
                    <a:pt x="0" y="822960"/>
                  </a:lnTo>
                  <a:close/>
                </a:path>
              </a:pathLst>
            </a:custGeom>
            <a:blipFill>
              <a:blip r:embed="rId2">
                <a:alphaModFix amt="0"/>
              </a:blip>
              <a:stretch>
                <a:fillRect l="0" t="-101550" r="0" b="-101550"/>
              </a:stretch>
            </a:blipFill>
          </p:spPr>
        </p:sp>
        <p:sp>
          <p:nvSpPr>
            <p:cNvPr name="TextBox 16" id="16"/>
            <p:cNvSpPr txBox="true"/>
            <p:nvPr/>
          </p:nvSpPr>
          <p:spPr>
            <a:xfrm>
              <a:off x="0" y="-66675"/>
              <a:ext cx="6400800" cy="889635"/>
            </a:xfrm>
            <a:prstGeom prst="rect">
              <a:avLst/>
            </a:prstGeom>
          </p:spPr>
          <p:txBody>
            <a:bodyPr anchor="ctr" rtlCol="false" tIns="0" lIns="0" bIns="0" rIns="0"/>
            <a:lstStyle/>
            <a:p>
              <a:pPr algn="l">
                <a:lnSpc>
                  <a:spcPts val="3600"/>
                </a:lnSpc>
              </a:pPr>
              <a:r>
                <a:rPr lang="en-US" sz="3000" b="true">
                  <a:solidFill>
                    <a:srgbClr val="0B2A5B"/>
                  </a:solidFill>
                  <a:latin typeface="Calibri (MS) Bold"/>
                  <a:ea typeface="Calibri (MS) Bold"/>
                  <a:cs typeface="Calibri (MS) Bold"/>
                  <a:sym typeface="Calibri (MS) Bold"/>
                </a:rPr>
                <a:t>The Problem</a:t>
              </a:r>
            </a:p>
          </p:txBody>
        </p:sp>
      </p:grpSp>
      <p:sp>
        <p:nvSpPr>
          <p:cNvPr name="TextBox 17" id="17"/>
          <p:cNvSpPr txBox="true"/>
          <p:nvPr/>
        </p:nvSpPr>
        <p:spPr>
          <a:xfrm rot="0">
            <a:off x="1028700" y="3175635"/>
            <a:ext cx="6240780" cy="176212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Manual registers are slow to search</a:t>
            </a:r>
          </a:p>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Records can be lost, duplicated or inconsistent</a:t>
            </a:r>
          </a:p>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No quick view of free slots or total revenue</a:t>
            </a:r>
          </a:p>
        </p:txBody>
      </p:sp>
      <p:grpSp>
        <p:nvGrpSpPr>
          <p:cNvPr name="Group 18" id="18"/>
          <p:cNvGrpSpPr/>
          <p:nvPr/>
        </p:nvGrpSpPr>
        <p:grpSpPr>
          <a:xfrm rot="0">
            <a:off x="685800" y="5280660"/>
            <a:ext cx="6858000" cy="4114800"/>
            <a:chOff x="0" y="0"/>
            <a:chExt cx="9144000" cy="5486400"/>
          </a:xfrm>
        </p:grpSpPr>
        <p:sp>
          <p:nvSpPr>
            <p:cNvPr name="Freeform 19" id="19"/>
            <p:cNvSpPr/>
            <p:nvPr/>
          </p:nvSpPr>
          <p:spPr>
            <a:xfrm flipH="false" flipV="false" rot="0">
              <a:off x="0" y="0"/>
              <a:ext cx="9144000" cy="5486400"/>
            </a:xfrm>
            <a:custGeom>
              <a:avLst/>
              <a:gdLst/>
              <a:ahLst/>
              <a:cxnLst/>
              <a:rect r="r" b="b" t="t" l="l"/>
              <a:pathLst>
                <a:path h="5486400" w="9144000">
                  <a:moveTo>
                    <a:pt x="0" y="182880"/>
                  </a:moveTo>
                  <a:cubicBezTo>
                    <a:pt x="0" y="81915"/>
                    <a:pt x="81915" y="0"/>
                    <a:pt x="182880" y="0"/>
                  </a:cubicBezTo>
                  <a:lnTo>
                    <a:pt x="8961120" y="0"/>
                  </a:lnTo>
                  <a:cubicBezTo>
                    <a:pt x="9062085" y="0"/>
                    <a:pt x="9144000" y="81915"/>
                    <a:pt x="9144000" y="182880"/>
                  </a:cubicBezTo>
                  <a:lnTo>
                    <a:pt x="9144000" y="5303520"/>
                  </a:lnTo>
                  <a:cubicBezTo>
                    <a:pt x="9144000" y="5404485"/>
                    <a:pt x="9062085" y="5486400"/>
                    <a:pt x="8961120" y="5486400"/>
                  </a:cubicBezTo>
                  <a:lnTo>
                    <a:pt x="182880" y="5486400"/>
                  </a:lnTo>
                  <a:cubicBezTo>
                    <a:pt x="81915" y="5486400"/>
                    <a:pt x="0" y="5404485"/>
                    <a:pt x="0" y="5303520"/>
                  </a:cubicBezTo>
                  <a:close/>
                </a:path>
              </a:pathLst>
            </a:custGeom>
            <a:solidFill>
              <a:srgbClr val="EAF2FC"/>
            </a:solidFill>
          </p:spPr>
        </p:sp>
      </p:grpSp>
      <p:grpSp>
        <p:nvGrpSpPr>
          <p:cNvPr name="Group 20" id="20"/>
          <p:cNvGrpSpPr/>
          <p:nvPr/>
        </p:nvGrpSpPr>
        <p:grpSpPr>
          <a:xfrm rot="0">
            <a:off x="1028700" y="5513832"/>
            <a:ext cx="685800" cy="685800"/>
            <a:chOff x="0" y="0"/>
            <a:chExt cx="914400" cy="914400"/>
          </a:xfrm>
        </p:grpSpPr>
        <p:sp>
          <p:nvSpPr>
            <p:cNvPr name="Freeform 21" id="2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2468C9"/>
            </a:solidFill>
          </p:spPr>
        </p:sp>
      </p:grpSp>
      <p:grpSp>
        <p:nvGrpSpPr>
          <p:cNvPr name="Group 22" id="22"/>
          <p:cNvGrpSpPr/>
          <p:nvPr/>
        </p:nvGrpSpPr>
        <p:grpSpPr>
          <a:xfrm rot="0">
            <a:off x="1200150" y="5685282"/>
            <a:ext cx="342900" cy="342900"/>
            <a:chOff x="0" y="0"/>
            <a:chExt cx="457200" cy="457200"/>
          </a:xfrm>
        </p:grpSpPr>
        <p:sp>
          <p:nvSpPr>
            <p:cNvPr name="Freeform 23" id="23"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4"/>
              <a:stretch>
                <a:fillRect l="0" t="0" r="0" b="0"/>
              </a:stretch>
            </a:blipFill>
          </p:spPr>
        </p:sp>
      </p:grpSp>
      <p:grpSp>
        <p:nvGrpSpPr>
          <p:cNvPr name="Group 24" id="24"/>
          <p:cNvGrpSpPr/>
          <p:nvPr/>
        </p:nvGrpSpPr>
        <p:grpSpPr>
          <a:xfrm rot="0">
            <a:off x="1920240" y="5554980"/>
            <a:ext cx="4800600" cy="617220"/>
            <a:chOff x="0" y="0"/>
            <a:chExt cx="6400800" cy="822960"/>
          </a:xfrm>
        </p:grpSpPr>
        <p:sp>
          <p:nvSpPr>
            <p:cNvPr name="Freeform 25" id="25"/>
            <p:cNvSpPr/>
            <p:nvPr/>
          </p:nvSpPr>
          <p:spPr>
            <a:xfrm flipH="false" flipV="false" rot="0">
              <a:off x="0" y="0"/>
              <a:ext cx="6400800" cy="822960"/>
            </a:xfrm>
            <a:custGeom>
              <a:avLst/>
              <a:gdLst/>
              <a:ahLst/>
              <a:cxnLst/>
              <a:rect r="r" b="b" t="t" l="l"/>
              <a:pathLst>
                <a:path h="822960" w="6400800">
                  <a:moveTo>
                    <a:pt x="0" y="0"/>
                  </a:moveTo>
                  <a:lnTo>
                    <a:pt x="6400800" y="0"/>
                  </a:lnTo>
                  <a:lnTo>
                    <a:pt x="6400800" y="822960"/>
                  </a:lnTo>
                  <a:lnTo>
                    <a:pt x="0" y="822960"/>
                  </a:lnTo>
                  <a:close/>
                </a:path>
              </a:pathLst>
            </a:custGeom>
            <a:blipFill>
              <a:blip r:embed="rId2">
                <a:alphaModFix amt="0"/>
              </a:blip>
              <a:stretch>
                <a:fillRect l="0" t="-101550" r="0" b="-101550"/>
              </a:stretch>
            </a:blipFill>
          </p:spPr>
        </p:sp>
        <p:sp>
          <p:nvSpPr>
            <p:cNvPr name="TextBox 26" id="26"/>
            <p:cNvSpPr txBox="true"/>
            <p:nvPr/>
          </p:nvSpPr>
          <p:spPr>
            <a:xfrm>
              <a:off x="0" y="-66675"/>
              <a:ext cx="6400800" cy="889635"/>
            </a:xfrm>
            <a:prstGeom prst="rect">
              <a:avLst/>
            </a:prstGeom>
          </p:spPr>
          <p:txBody>
            <a:bodyPr anchor="ctr" rtlCol="false" tIns="0" lIns="0" bIns="0" rIns="0"/>
            <a:lstStyle/>
            <a:p>
              <a:pPr algn="l">
                <a:lnSpc>
                  <a:spcPts val="3600"/>
                </a:lnSpc>
              </a:pPr>
              <a:r>
                <a:rPr lang="en-US" sz="3000" b="true">
                  <a:solidFill>
                    <a:srgbClr val="0B2A5B"/>
                  </a:solidFill>
                  <a:latin typeface="Calibri (MS) Bold"/>
                  <a:ea typeface="Calibri (MS) Bold"/>
                  <a:cs typeface="Calibri (MS) Bold"/>
                  <a:sym typeface="Calibri (MS) Bold"/>
                </a:rPr>
                <a:t>Objectives</a:t>
              </a:r>
            </a:p>
          </p:txBody>
        </p:sp>
      </p:grpSp>
      <p:sp>
        <p:nvSpPr>
          <p:cNvPr name="TextBox 27" id="27"/>
          <p:cNvSpPr txBox="true"/>
          <p:nvPr/>
        </p:nvSpPr>
        <p:spPr>
          <a:xfrm rot="0">
            <a:off x="1028700" y="6467475"/>
            <a:ext cx="6240780" cy="2790825"/>
          </a:xfrm>
          <a:prstGeom prst="rect">
            <a:avLst/>
          </a:prstGeom>
        </p:spPr>
        <p:txBody>
          <a:bodyPr anchor="t" rtlCol="false" tIns="0" lIns="0" bIns="0" rIns="0">
            <a:spAutoFit/>
          </a:bodyPr>
          <a:lstStyle/>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Store customers, vehicles, slots and parking records in one database</a:t>
            </a:r>
          </a:p>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Avoid duplicates and broken links using keys and constraints</a:t>
            </a:r>
          </a:p>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Retrieve combined details with JOIN queries</a:t>
            </a:r>
          </a:p>
          <a:p>
            <a:pPr algn="l" marL="380048" indent="-190024" lvl="1">
              <a:lnSpc>
                <a:spcPts val="2520"/>
              </a:lnSpc>
              <a:buFont typeface="Arial"/>
              <a:buChar char="•"/>
            </a:pPr>
            <a:r>
              <a:rPr lang="en-US" sz="2100">
                <a:solidFill>
                  <a:srgbClr val="0A1A33"/>
                </a:solidFill>
                <a:latin typeface="Calibri (MS)"/>
                <a:ea typeface="Calibri (MS)"/>
                <a:cs typeface="Calibri (MS)"/>
                <a:sym typeface="Calibri (MS)"/>
              </a:rPr>
              <a:t>Summarise revenue with aggregate functions</a:t>
            </a:r>
          </a:p>
        </p:txBody>
      </p:sp>
      <p:grpSp>
        <p:nvGrpSpPr>
          <p:cNvPr name="Group 28" id="28"/>
          <p:cNvGrpSpPr/>
          <p:nvPr/>
        </p:nvGrpSpPr>
        <p:grpSpPr>
          <a:xfrm rot="0">
            <a:off x="7886700" y="1988820"/>
            <a:ext cx="4800600" cy="617220"/>
            <a:chOff x="0" y="0"/>
            <a:chExt cx="6400800" cy="822960"/>
          </a:xfrm>
        </p:grpSpPr>
        <p:sp>
          <p:nvSpPr>
            <p:cNvPr name="Freeform 29" id="29"/>
            <p:cNvSpPr/>
            <p:nvPr/>
          </p:nvSpPr>
          <p:spPr>
            <a:xfrm flipH="false" flipV="false" rot="0">
              <a:off x="0" y="0"/>
              <a:ext cx="6400800" cy="822960"/>
            </a:xfrm>
            <a:custGeom>
              <a:avLst/>
              <a:gdLst/>
              <a:ahLst/>
              <a:cxnLst/>
              <a:rect r="r" b="b" t="t" l="l"/>
              <a:pathLst>
                <a:path h="822960" w="6400800">
                  <a:moveTo>
                    <a:pt x="0" y="0"/>
                  </a:moveTo>
                  <a:lnTo>
                    <a:pt x="6400800" y="0"/>
                  </a:lnTo>
                  <a:lnTo>
                    <a:pt x="6400800" y="822960"/>
                  </a:lnTo>
                  <a:lnTo>
                    <a:pt x="0" y="822960"/>
                  </a:lnTo>
                  <a:close/>
                </a:path>
              </a:pathLst>
            </a:custGeom>
            <a:blipFill>
              <a:blip r:embed="rId2">
                <a:alphaModFix amt="0"/>
              </a:blip>
              <a:stretch>
                <a:fillRect l="0" t="-101550" r="0" b="-101550"/>
              </a:stretch>
            </a:blipFill>
          </p:spPr>
        </p:sp>
        <p:sp>
          <p:nvSpPr>
            <p:cNvPr name="TextBox 30" id="30"/>
            <p:cNvSpPr txBox="true"/>
            <p:nvPr/>
          </p:nvSpPr>
          <p:spPr>
            <a:xfrm>
              <a:off x="0" y="-66675"/>
              <a:ext cx="6400800" cy="889635"/>
            </a:xfrm>
            <a:prstGeom prst="rect">
              <a:avLst/>
            </a:prstGeom>
          </p:spPr>
          <p:txBody>
            <a:bodyPr anchor="ctr" rtlCol="false" tIns="0" lIns="0" bIns="0" rIns="0"/>
            <a:lstStyle/>
            <a:p>
              <a:pPr algn="l">
                <a:lnSpc>
                  <a:spcPts val="3600"/>
                </a:lnSpc>
              </a:pPr>
              <a:r>
                <a:rPr lang="en-US" sz="3000" b="true">
                  <a:solidFill>
                    <a:srgbClr val="0B2A5B"/>
                  </a:solidFill>
                  <a:latin typeface="Calibri (MS) Bold"/>
                  <a:ea typeface="Calibri (MS) Bold"/>
                  <a:cs typeface="Calibri (MS) Bold"/>
                  <a:sym typeface="Calibri (MS) Bold"/>
                </a:rPr>
                <a:t>What is implemented</a:t>
              </a:r>
            </a:p>
          </p:txBody>
        </p:sp>
      </p:grpSp>
      <p:grpSp>
        <p:nvGrpSpPr>
          <p:cNvPr name="Group 31" id="31"/>
          <p:cNvGrpSpPr/>
          <p:nvPr/>
        </p:nvGrpSpPr>
        <p:grpSpPr>
          <a:xfrm rot="0">
            <a:off x="7886700" y="2715768"/>
            <a:ext cx="4718304" cy="1536192"/>
            <a:chOff x="0" y="0"/>
            <a:chExt cx="6291072" cy="2048256"/>
          </a:xfrm>
        </p:grpSpPr>
        <p:sp>
          <p:nvSpPr>
            <p:cNvPr name="Freeform 32" id="32"/>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33" id="33"/>
          <p:cNvGrpSpPr/>
          <p:nvPr/>
        </p:nvGrpSpPr>
        <p:grpSpPr>
          <a:xfrm rot="0">
            <a:off x="8161020" y="3072384"/>
            <a:ext cx="822960" cy="822960"/>
            <a:chOff x="0" y="0"/>
            <a:chExt cx="1097280" cy="1097280"/>
          </a:xfrm>
        </p:grpSpPr>
        <p:sp>
          <p:nvSpPr>
            <p:cNvPr name="Freeform 34" id="3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35" id="35"/>
          <p:cNvGrpSpPr/>
          <p:nvPr/>
        </p:nvGrpSpPr>
        <p:grpSpPr>
          <a:xfrm rot="0">
            <a:off x="8366760" y="3278124"/>
            <a:ext cx="411480" cy="411480"/>
            <a:chOff x="0" y="0"/>
            <a:chExt cx="548640" cy="548640"/>
          </a:xfrm>
        </p:grpSpPr>
        <p:sp>
          <p:nvSpPr>
            <p:cNvPr name="Freeform 36" id="36"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5"/>
              <a:stretch>
                <a:fillRect l="0" t="0" r="0" b="0"/>
              </a:stretch>
            </a:blipFill>
          </p:spPr>
        </p:sp>
      </p:grpSp>
      <p:grpSp>
        <p:nvGrpSpPr>
          <p:cNvPr name="Group 37" id="37"/>
          <p:cNvGrpSpPr/>
          <p:nvPr/>
        </p:nvGrpSpPr>
        <p:grpSpPr>
          <a:xfrm rot="0">
            <a:off x="9258300" y="2852928"/>
            <a:ext cx="3140964" cy="1261872"/>
            <a:chOff x="0" y="0"/>
            <a:chExt cx="4187952" cy="1682496"/>
          </a:xfrm>
        </p:grpSpPr>
        <p:sp>
          <p:nvSpPr>
            <p:cNvPr name="Freeform 38" id="38"/>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39" id="39"/>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Customer and vehicle registration records</a:t>
              </a:r>
            </a:p>
          </p:txBody>
        </p:sp>
      </p:grpSp>
      <p:grpSp>
        <p:nvGrpSpPr>
          <p:cNvPr name="Group 40" id="40"/>
          <p:cNvGrpSpPr/>
          <p:nvPr/>
        </p:nvGrpSpPr>
        <p:grpSpPr>
          <a:xfrm rot="0">
            <a:off x="12879324" y="2715768"/>
            <a:ext cx="4718304" cy="1536192"/>
            <a:chOff x="0" y="0"/>
            <a:chExt cx="6291072" cy="2048256"/>
          </a:xfrm>
        </p:grpSpPr>
        <p:sp>
          <p:nvSpPr>
            <p:cNvPr name="Freeform 41" id="41"/>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42" id="42"/>
          <p:cNvGrpSpPr/>
          <p:nvPr/>
        </p:nvGrpSpPr>
        <p:grpSpPr>
          <a:xfrm rot="0">
            <a:off x="13153644" y="3072384"/>
            <a:ext cx="822960" cy="822960"/>
            <a:chOff x="0" y="0"/>
            <a:chExt cx="1097280" cy="1097280"/>
          </a:xfrm>
        </p:grpSpPr>
        <p:sp>
          <p:nvSpPr>
            <p:cNvPr name="Freeform 43" id="4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44" id="44"/>
          <p:cNvGrpSpPr/>
          <p:nvPr/>
        </p:nvGrpSpPr>
        <p:grpSpPr>
          <a:xfrm rot="0">
            <a:off x="13359384" y="3278124"/>
            <a:ext cx="411480" cy="411480"/>
            <a:chOff x="0" y="0"/>
            <a:chExt cx="548640" cy="548640"/>
          </a:xfrm>
        </p:grpSpPr>
        <p:sp>
          <p:nvSpPr>
            <p:cNvPr name="Freeform 45" id="45"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46" id="46"/>
          <p:cNvGrpSpPr/>
          <p:nvPr/>
        </p:nvGrpSpPr>
        <p:grpSpPr>
          <a:xfrm rot="0">
            <a:off x="14250924" y="2852928"/>
            <a:ext cx="3140964" cy="1261872"/>
            <a:chOff x="0" y="0"/>
            <a:chExt cx="4187952" cy="1682496"/>
          </a:xfrm>
        </p:grpSpPr>
        <p:sp>
          <p:nvSpPr>
            <p:cNvPr name="Freeform 47" id="47"/>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48" id="48"/>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Parking-slot management</a:t>
              </a:r>
            </a:p>
          </p:txBody>
        </p:sp>
      </p:grpSp>
      <p:grpSp>
        <p:nvGrpSpPr>
          <p:cNvPr name="Group 49" id="49"/>
          <p:cNvGrpSpPr/>
          <p:nvPr/>
        </p:nvGrpSpPr>
        <p:grpSpPr>
          <a:xfrm rot="0">
            <a:off x="7886700" y="4443984"/>
            <a:ext cx="4718304" cy="1536192"/>
            <a:chOff x="0" y="0"/>
            <a:chExt cx="6291072" cy="2048256"/>
          </a:xfrm>
        </p:grpSpPr>
        <p:sp>
          <p:nvSpPr>
            <p:cNvPr name="Freeform 50" id="50"/>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51" id="51"/>
          <p:cNvGrpSpPr/>
          <p:nvPr/>
        </p:nvGrpSpPr>
        <p:grpSpPr>
          <a:xfrm rot="0">
            <a:off x="8161020" y="4800600"/>
            <a:ext cx="822960" cy="822960"/>
            <a:chOff x="0" y="0"/>
            <a:chExt cx="1097280" cy="1097280"/>
          </a:xfrm>
        </p:grpSpPr>
        <p:sp>
          <p:nvSpPr>
            <p:cNvPr name="Freeform 52" id="5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53" id="53"/>
          <p:cNvGrpSpPr/>
          <p:nvPr/>
        </p:nvGrpSpPr>
        <p:grpSpPr>
          <a:xfrm rot="0">
            <a:off x="8366760" y="5006340"/>
            <a:ext cx="411480" cy="411480"/>
            <a:chOff x="0" y="0"/>
            <a:chExt cx="548640" cy="548640"/>
          </a:xfrm>
        </p:grpSpPr>
        <p:sp>
          <p:nvSpPr>
            <p:cNvPr name="Freeform 54" id="54"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7"/>
              <a:stretch>
                <a:fillRect l="0" t="0" r="0" b="0"/>
              </a:stretch>
            </a:blipFill>
          </p:spPr>
        </p:sp>
      </p:grpSp>
      <p:grpSp>
        <p:nvGrpSpPr>
          <p:cNvPr name="Group 55" id="55"/>
          <p:cNvGrpSpPr/>
          <p:nvPr/>
        </p:nvGrpSpPr>
        <p:grpSpPr>
          <a:xfrm rot="0">
            <a:off x="9258300" y="4581144"/>
            <a:ext cx="3140964" cy="1261872"/>
            <a:chOff x="0" y="0"/>
            <a:chExt cx="4187952" cy="1682496"/>
          </a:xfrm>
        </p:grpSpPr>
        <p:sp>
          <p:nvSpPr>
            <p:cNvPr name="Freeform 56" id="56"/>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57" id="57"/>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Parking-record storage</a:t>
              </a:r>
            </a:p>
          </p:txBody>
        </p:sp>
      </p:grpSp>
      <p:grpSp>
        <p:nvGrpSpPr>
          <p:cNvPr name="Group 58" id="58"/>
          <p:cNvGrpSpPr/>
          <p:nvPr/>
        </p:nvGrpSpPr>
        <p:grpSpPr>
          <a:xfrm rot="0">
            <a:off x="12879324" y="4443984"/>
            <a:ext cx="4718304" cy="1536192"/>
            <a:chOff x="0" y="0"/>
            <a:chExt cx="6291072" cy="2048256"/>
          </a:xfrm>
        </p:grpSpPr>
        <p:sp>
          <p:nvSpPr>
            <p:cNvPr name="Freeform 59" id="59"/>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60" id="60"/>
          <p:cNvGrpSpPr/>
          <p:nvPr/>
        </p:nvGrpSpPr>
        <p:grpSpPr>
          <a:xfrm rot="0">
            <a:off x="13153644" y="4800600"/>
            <a:ext cx="822960" cy="822960"/>
            <a:chOff x="0" y="0"/>
            <a:chExt cx="1097280" cy="1097280"/>
          </a:xfrm>
        </p:grpSpPr>
        <p:sp>
          <p:nvSpPr>
            <p:cNvPr name="Freeform 61" id="61"/>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62" id="62"/>
          <p:cNvGrpSpPr/>
          <p:nvPr/>
        </p:nvGrpSpPr>
        <p:grpSpPr>
          <a:xfrm rot="0">
            <a:off x="13359384" y="5006340"/>
            <a:ext cx="411480" cy="411480"/>
            <a:chOff x="0" y="0"/>
            <a:chExt cx="548640" cy="548640"/>
          </a:xfrm>
        </p:grpSpPr>
        <p:sp>
          <p:nvSpPr>
            <p:cNvPr name="Freeform 63" id="63"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8"/>
              <a:stretch>
                <a:fillRect l="0" t="0" r="0" b="0"/>
              </a:stretch>
            </a:blipFill>
          </p:spPr>
        </p:sp>
      </p:grpSp>
      <p:grpSp>
        <p:nvGrpSpPr>
          <p:cNvPr name="Group 64" id="64"/>
          <p:cNvGrpSpPr/>
          <p:nvPr/>
        </p:nvGrpSpPr>
        <p:grpSpPr>
          <a:xfrm rot="0">
            <a:off x="14250924" y="4581144"/>
            <a:ext cx="3140964" cy="1261872"/>
            <a:chOff x="0" y="0"/>
            <a:chExt cx="4187952" cy="1682496"/>
          </a:xfrm>
        </p:grpSpPr>
        <p:sp>
          <p:nvSpPr>
            <p:cNvPr name="Freeform 65" id="65"/>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66" id="66"/>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Searching vehicles and checking slot availability</a:t>
              </a:r>
            </a:p>
          </p:txBody>
        </p:sp>
      </p:grpSp>
      <p:grpSp>
        <p:nvGrpSpPr>
          <p:cNvPr name="Group 67" id="67"/>
          <p:cNvGrpSpPr/>
          <p:nvPr/>
        </p:nvGrpSpPr>
        <p:grpSpPr>
          <a:xfrm rot="0">
            <a:off x="7886700" y="6172200"/>
            <a:ext cx="4718304" cy="1536192"/>
            <a:chOff x="0" y="0"/>
            <a:chExt cx="6291072" cy="2048256"/>
          </a:xfrm>
        </p:grpSpPr>
        <p:sp>
          <p:nvSpPr>
            <p:cNvPr name="Freeform 68" id="68"/>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69" id="69"/>
          <p:cNvGrpSpPr/>
          <p:nvPr/>
        </p:nvGrpSpPr>
        <p:grpSpPr>
          <a:xfrm rot="0">
            <a:off x="8161020" y="6528816"/>
            <a:ext cx="822960" cy="822960"/>
            <a:chOff x="0" y="0"/>
            <a:chExt cx="1097280" cy="1097280"/>
          </a:xfrm>
        </p:grpSpPr>
        <p:sp>
          <p:nvSpPr>
            <p:cNvPr name="Freeform 70" id="70"/>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71" id="71"/>
          <p:cNvGrpSpPr/>
          <p:nvPr/>
        </p:nvGrpSpPr>
        <p:grpSpPr>
          <a:xfrm rot="0">
            <a:off x="8366760" y="6734556"/>
            <a:ext cx="411480" cy="411480"/>
            <a:chOff x="0" y="0"/>
            <a:chExt cx="548640" cy="548640"/>
          </a:xfrm>
        </p:grpSpPr>
        <p:sp>
          <p:nvSpPr>
            <p:cNvPr name="Freeform 72" id="72"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9"/>
              <a:stretch>
                <a:fillRect l="0" t="0" r="0" b="0"/>
              </a:stretch>
            </a:blipFill>
          </p:spPr>
        </p:sp>
      </p:grpSp>
      <p:grpSp>
        <p:nvGrpSpPr>
          <p:cNvPr name="Group 73" id="73"/>
          <p:cNvGrpSpPr/>
          <p:nvPr/>
        </p:nvGrpSpPr>
        <p:grpSpPr>
          <a:xfrm rot="0">
            <a:off x="9258300" y="6309360"/>
            <a:ext cx="3140964" cy="1261872"/>
            <a:chOff x="0" y="0"/>
            <a:chExt cx="4187952" cy="1682496"/>
          </a:xfrm>
        </p:grpSpPr>
        <p:sp>
          <p:nvSpPr>
            <p:cNvPr name="Freeform 74" id="74"/>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75" id="75"/>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Retrieving complete details using JOIN queries</a:t>
              </a:r>
            </a:p>
          </p:txBody>
        </p:sp>
      </p:grpSp>
      <p:grpSp>
        <p:nvGrpSpPr>
          <p:cNvPr name="Group 76" id="76"/>
          <p:cNvGrpSpPr/>
          <p:nvPr/>
        </p:nvGrpSpPr>
        <p:grpSpPr>
          <a:xfrm rot="0">
            <a:off x="12879324" y="6172200"/>
            <a:ext cx="4718304" cy="1536192"/>
            <a:chOff x="0" y="0"/>
            <a:chExt cx="6291072" cy="2048256"/>
          </a:xfrm>
        </p:grpSpPr>
        <p:sp>
          <p:nvSpPr>
            <p:cNvPr name="Freeform 77" id="77"/>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78" id="78"/>
          <p:cNvGrpSpPr/>
          <p:nvPr/>
        </p:nvGrpSpPr>
        <p:grpSpPr>
          <a:xfrm rot="0">
            <a:off x="13153644" y="6528816"/>
            <a:ext cx="822960" cy="822960"/>
            <a:chOff x="0" y="0"/>
            <a:chExt cx="1097280" cy="1097280"/>
          </a:xfrm>
        </p:grpSpPr>
        <p:sp>
          <p:nvSpPr>
            <p:cNvPr name="Freeform 79" id="79"/>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80" id="80"/>
          <p:cNvGrpSpPr/>
          <p:nvPr/>
        </p:nvGrpSpPr>
        <p:grpSpPr>
          <a:xfrm rot="0">
            <a:off x="13359384" y="6734556"/>
            <a:ext cx="411480" cy="411480"/>
            <a:chOff x="0" y="0"/>
            <a:chExt cx="548640" cy="548640"/>
          </a:xfrm>
        </p:grpSpPr>
        <p:sp>
          <p:nvSpPr>
            <p:cNvPr name="Freeform 81" id="81"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0"/>
              <a:stretch>
                <a:fillRect l="0" t="0" r="0" b="0"/>
              </a:stretch>
            </a:blipFill>
          </p:spPr>
        </p:sp>
      </p:grpSp>
      <p:grpSp>
        <p:nvGrpSpPr>
          <p:cNvPr name="Group 82" id="82"/>
          <p:cNvGrpSpPr/>
          <p:nvPr/>
        </p:nvGrpSpPr>
        <p:grpSpPr>
          <a:xfrm rot="0">
            <a:off x="14250924" y="6309360"/>
            <a:ext cx="3140964" cy="1261872"/>
            <a:chOff x="0" y="0"/>
            <a:chExt cx="4187952" cy="1682496"/>
          </a:xfrm>
        </p:grpSpPr>
        <p:sp>
          <p:nvSpPr>
            <p:cNvPr name="Freeform 83" id="83"/>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84" id="84"/>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Calculating revenue using aggregate functions</a:t>
              </a:r>
            </a:p>
          </p:txBody>
        </p:sp>
      </p:grpSp>
      <p:grpSp>
        <p:nvGrpSpPr>
          <p:cNvPr name="Group 85" id="85"/>
          <p:cNvGrpSpPr/>
          <p:nvPr/>
        </p:nvGrpSpPr>
        <p:grpSpPr>
          <a:xfrm rot="0">
            <a:off x="7886700" y="7900416"/>
            <a:ext cx="4718304" cy="1536192"/>
            <a:chOff x="0" y="0"/>
            <a:chExt cx="6291072" cy="2048256"/>
          </a:xfrm>
        </p:grpSpPr>
        <p:sp>
          <p:nvSpPr>
            <p:cNvPr name="Freeform 86" id="86"/>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EAF2FC"/>
            </a:solidFill>
          </p:spPr>
        </p:sp>
      </p:grpSp>
      <p:grpSp>
        <p:nvGrpSpPr>
          <p:cNvPr name="Group 87" id="87"/>
          <p:cNvGrpSpPr/>
          <p:nvPr/>
        </p:nvGrpSpPr>
        <p:grpSpPr>
          <a:xfrm rot="0">
            <a:off x="8161020" y="8257032"/>
            <a:ext cx="822960" cy="822960"/>
            <a:chOff x="0" y="0"/>
            <a:chExt cx="1097280" cy="1097280"/>
          </a:xfrm>
        </p:grpSpPr>
        <p:sp>
          <p:nvSpPr>
            <p:cNvPr name="Freeform 88" id="8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2468C9"/>
            </a:solidFill>
          </p:spPr>
        </p:sp>
      </p:grpSp>
      <p:grpSp>
        <p:nvGrpSpPr>
          <p:cNvPr name="Group 89" id="89"/>
          <p:cNvGrpSpPr/>
          <p:nvPr/>
        </p:nvGrpSpPr>
        <p:grpSpPr>
          <a:xfrm rot="0">
            <a:off x="8366760" y="8462772"/>
            <a:ext cx="411480" cy="411480"/>
            <a:chOff x="0" y="0"/>
            <a:chExt cx="548640" cy="548640"/>
          </a:xfrm>
        </p:grpSpPr>
        <p:sp>
          <p:nvSpPr>
            <p:cNvPr name="Freeform 90" id="90" descr="preencoded.png"/>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11"/>
              <a:stretch>
                <a:fillRect l="0" t="0" r="0" b="0"/>
              </a:stretch>
            </a:blipFill>
          </p:spPr>
        </p:sp>
      </p:grpSp>
      <p:grpSp>
        <p:nvGrpSpPr>
          <p:cNvPr name="Group 91" id="91"/>
          <p:cNvGrpSpPr/>
          <p:nvPr/>
        </p:nvGrpSpPr>
        <p:grpSpPr>
          <a:xfrm rot="0">
            <a:off x="9258300" y="8037576"/>
            <a:ext cx="3140964" cy="1261872"/>
            <a:chOff x="0" y="0"/>
            <a:chExt cx="4187952" cy="1682496"/>
          </a:xfrm>
        </p:grpSpPr>
        <p:sp>
          <p:nvSpPr>
            <p:cNvPr name="Freeform 92" id="92"/>
            <p:cNvSpPr/>
            <p:nvPr/>
          </p:nvSpPr>
          <p:spPr>
            <a:xfrm flipH="false" flipV="false" rot="0">
              <a:off x="0" y="0"/>
              <a:ext cx="4187952" cy="1682496"/>
            </a:xfrm>
            <a:custGeom>
              <a:avLst/>
              <a:gdLst/>
              <a:ahLst/>
              <a:cxnLst/>
              <a:rect r="r" b="b" t="t" l="l"/>
              <a:pathLst>
                <a:path h="1682496" w="4187952">
                  <a:moveTo>
                    <a:pt x="0" y="0"/>
                  </a:moveTo>
                  <a:lnTo>
                    <a:pt x="4187952" y="0"/>
                  </a:lnTo>
                  <a:lnTo>
                    <a:pt x="4187952" y="1682496"/>
                  </a:lnTo>
                  <a:lnTo>
                    <a:pt x="0" y="1682496"/>
                  </a:lnTo>
                  <a:close/>
                </a:path>
              </a:pathLst>
            </a:custGeom>
            <a:blipFill>
              <a:blip r:embed="rId2">
                <a:alphaModFix amt="0"/>
              </a:blip>
              <a:stretch>
                <a:fillRect l="-1545" t="0" r="-1545" b="0"/>
              </a:stretch>
            </a:blipFill>
          </p:spPr>
        </p:sp>
        <p:sp>
          <p:nvSpPr>
            <p:cNvPr name="TextBox 93" id="93"/>
            <p:cNvSpPr txBox="true"/>
            <p:nvPr/>
          </p:nvSpPr>
          <p:spPr>
            <a:xfrm>
              <a:off x="0" y="-47625"/>
              <a:ext cx="4187952" cy="1730121"/>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Using SQL commands and database views</a:t>
              </a:r>
            </a:p>
          </p:txBody>
        </p:sp>
      </p:grpSp>
      <p:grpSp>
        <p:nvGrpSpPr>
          <p:cNvPr name="Group 94" id="94"/>
          <p:cNvGrpSpPr/>
          <p:nvPr/>
        </p:nvGrpSpPr>
        <p:grpSpPr>
          <a:xfrm rot="0">
            <a:off x="12879324" y="7900416"/>
            <a:ext cx="4718304" cy="1536192"/>
            <a:chOff x="0" y="0"/>
            <a:chExt cx="6291072" cy="2048256"/>
          </a:xfrm>
        </p:grpSpPr>
        <p:sp>
          <p:nvSpPr>
            <p:cNvPr name="Freeform 95" id="95"/>
            <p:cNvSpPr/>
            <p:nvPr/>
          </p:nvSpPr>
          <p:spPr>
            <a:xfrm flipH="false" flipV="false" rot="0">
              <a:off x="0" y="0"/>
              <a:ext cx="6291072" cy="2048256"/>
            </a:xfrm>
            <a:custGeom>
              <a:avLst/>
              <a:gdLst/>
              <a:ahLst/>
              <a:cxnLst/>
              <a:rect r="r" b="b" t="t" l="l"/>
              <a:pathLst>
                <a:path h="2048256" w="6291072">
                  <a:moveTo>
                    <a:pt x="0" y="182880"/>
                  </a:moveTo>
                  <a:cubicBezTo>
                    <a:pt x="0" y="81915"/>
                    <a:pt x="81915" y="0"/>
                    <a:pt x="182880" y="0"/>
                  </a:cubicBezTo>
                  <a:lnTo>
                    <a:pt x="6108192" y="0"/>
                  </a:lnTo>
                  <a:cubicBezTo>
                    <a:pt x="6209157" y="0"/>
                    <a:pt x="6291072" y="81915"/>
                    <a:pt x="6291072" y="182880"/>
                  </a:cubicBezTo>
                  <a:lnTo>
                    <a:pt x="6291072" y="1865376"/>
                  </a:lnTo>
                  <a:cubicBezTo>
                    <a:pt x="6291072" y="1966341"/>
                    <a:pt x="6209157" y="2048256"/>
                    <a:pt x="6108192" y="2048256"/>
                  </a:cubicBezTo>
                  <a:lnTo>
                    <a:pt x="182880" y="2048256"/>
                  </a:lnTo>
                  <a:cubicBezTo>
                    <a:pt x="81915" y="2048256"/>
                    <a:pt x="0" y="1966341"/>
                    <a:pt x="0" y="1865376"/>
                  </a:cubicBezTo>
                  <a:close/>
                </a:path>
              </a:pathLst>
            </a:custGeom>
            <a:solidFill>
              <a:srgbClr val="0B2A5B"/>
            </a:solidFill>
          </p:spPr>
        </p:sp>
      </p:grpSp>
      <p:grpSp>
        <p:nvGrpSpPr>
          <p:cNvPr name="Group 96" id="96"/>
          <p:cNvGrpSpPr/>
          <p:nvPr/>
        </p:nvGrpSpPr>
        <p:grpSpPr>
          <a:xfrm rot="0">
            <a:off x="13153644" y="8010144"/>
            <a:ext cx="4169664" cy="1316736"/>
            <a:chOff x="0" y="0"/>
            <a:chExt cx="5559552" cy="1755648"/>
          </a:xfrm>
        </p:grpSpPr>
        <p:sp>
          <p:nvSpPr>
            <p:cNvPr name="Freeform 97" id="97"/>
            <p:cNvSpPr/>
            <p:nvPr/>
          </p:nvSpPr>
          <p:spPr>
            <a:xfrm flipH="false" flipV="false" rot="0">
              <a:off x="0" y="0"/>
              <a:ext cx="5559552" cy="1755648"/>
            </a:xfrm>
            <a:custGeom>
              <a:avLst/>
              <a:gdLst/>
              <a:ahLst/>
              <a:cxnLst/>
              <a:rect r="r" b="b" t="t" l="l"/>
              <a:pathLst>
                <a:path h="1755648" w="5559552">
                  <a:moveTo>
                    <a:pt x="0" y="0"/>
                  </a:moveTo>
                  <a:lnTo>
                    <a:pt x="5559552" y="0"/>
                  </a:lnTo>
                  <a:lnTo>
                    <a:pt x="5559552" y="1755648"/>
                  </a:lnTo>
                  <a:lnTo>
                    <a:pt x="0" y="1755648"/>
                  </a:lnTo>
                  <a:close/>
                </a:path>
              </a:pathLst>
            </a:custGeom>
            <a:blipFill>
              <a:blip r:embed="rId2">
                <a:alphaModFix amt="0"/>
              </a:blip>
              <a:stretch>
                <a:fillRect l="0" t="-11702" r="0" b="-11702"/>
              </a:stretch>
            </a:blipFill>
          </p:spPr>
        </p:sp>
        <p:sp>
          <p:nvSpPr>
            <p:cNvPr name="TextBox 98" id="98"/>
            <p:cNvSpPr txBox="true"/>
            <p:nvPr/>
          </p:nvSpPr>
          <p:spPr>
            <a:xfrm>
              <a:off x="0" y="-47625"/>
              <a:ext cx="5559552" cy="1803273"/>
            </a:xfrm>
            <a:prstGeom prst="rect">
              <a:avLst/>
            </a:prstGeom>
          </p:spPr>
          <p:txBody>
            <a:bodyPr anchor="ctr" rtlCol="false" tIns="0" lIns="0" bIns="0" rIns="0"/>
            <a:lstStyle/>
            <a:p>
              <a:pPr algn="l">
                <a:lnSpc>
                  <a:spcPts val="2520"/>
                </a:lnSpc>
              </a:pPr>
              <a:r>
                <a:rPr lang="en-US" sz="2100" b="true">
                  <a:solidFill>
                    <a:srgbClr val="F2B233"/>
                  </a:solidFill>
                  <a:latin typeface="Calibri (MS) Bold"/>
                  <a:ea typeface="Calibri (MS) Bold"/>
                  <a:cs typeface="Calibri (MS) Bold"/>
                  <a:sym typeface="Calibri (MS) Bold"/>
                </a:rPr>
                <a:t>Scope: </a:t>
              </a:r>
              <a:r>
                <a:rPr lang="en-US" sz="2100">
                  <a:solidFill>
                    <a:srgbClr val="FFFFFF"/>
                  </a:solidFill>
                  <a:latin typeface="Calibri (MS)"/>
                  <a:ea typeface="Calibri (MS)"/>
                  <a:cs typeface="Calibri (MS)"/>
                  <a:sym typeface="Calibri (MS)"/>
                </a:rPr>
                <a:t>a database project run in the MySQL Command Line Client, not a complete graphical application.</a:t>
              </a:r>
            </a:p>
          </p:txBody>
        </p:sp>
      </p:grpSp>
      <p:sp>
        <p:nvSpPr>
          <p:cNvPr name="TextBox 99" id="99"/>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685800" y="411480"/>
            <a:ext cx="16911828" cy="1234440"/>
            <a:chOff x="0" y="0"/>
            <a:chExt cx="22549104" cy="1645920"/>
          </a:xfrm>
        </p:grpSpPr>
        <p:sp>
          <p:nvSpPr>
            <p:cNvPr name="Freeform 6" id="6"/>
            <p:cNvSpPr/>
            <p:nvPr/>
          </p:nvSpPr>
          <p:spPr>
            <a:xfrm flipH="false" flipV="false" rot="0">
              <a:off x="0" y="0"/>
              <a:ext cx="22549104" cy="1645920"/>
            </a:xfrm>
            <a:custGeom>
              <a:avLst/>
              <a:gdLst/>
              <a:ahLst/>
              <a:cxnLst/>
              <a:rect r="r" b="b" t="t" l="l"/>
              <a:pathLst>
                <a:path h="1645920" w="22549104">
                  <a:moveTo>
                    <a:pt x="0" y="0"/>
                  </a:moveTo>
                  <a:lnTo>
                    <a:pt x="22549104" y="0"/>
                  </a:lnTo>
                  <a:lnTo>
                    <a:pt x="22549104" y="1645920"/>
                  </a:lnTo>
                  <a:lnTo>
                    <a:pt x="0" y="1645920"/>
                  </a:lnTo>
                  <a:close/>
                </a:path>
              </a:pathLst>
            </a:custGeom>
            <a:blipFill>
              <a:blip r:embed="rId2">
                <a:alphaModFix amt="0"/>
              </a:blip>
              <a:stretch>
                <a:fillRect l="0" t="-216945" r="0" b="-216945"/>
              </a:stretch>
            </a:blipFill>
          </p:spPr>
        </p:sp>
        <p:sp>
          <p:nvSpPr>
            <p:cNvPr name="TextBox 7" id="7"/>
            <p:cNvSpPr txBox="true"/>
            <p:nvPr/>
          </p:nvSpPr>
          <p:spPr>
            <a:xfrm>
              <a:off x="0" y="-9525"/>
              <a:ext cx="22549104" cy="165544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ER Diagram</a:t>
              </a:r>
            </a:p>
          </p:txBody>
        </p:sp>
      </p:grpSp>
      <p:sp>
        <p:nvSpPr>
          <p:cNvPr name="Freeform 8" id="8"/>
          <p:cNvSpPr/>
          <p:nvPr/>
        </p:nvSpPr>
        <p:spPr>
          <a:xfrm flipH="false" flipV="false" rot="0">
            <a:off x="2877807" y="1518328"/>
            <a:ext cx="13153009" cy="8768672"/>
          </a:xfrm>
          <a:custGeom>
            <a:avLst/>
            <a:gdLst/>
            <a:ahLst/>
            <a:cxnLst/>
            <a:rect r="r" b="b" t="t" l="l"/>
            <a:pathLst>
              <a:path h="8768672" w="13153009">
                <a:moveTo>
                  <a:pt x="0" y="0"/>
                </a:moveTo>
                <a:lnTo>
                  <a:pt x="13153008" y="0"/>
                </a:lnTo>
                <a:lnTo>
                  <a:pt x="13153008" y="8768672"/>
                </a:lnTo>
                <a:lnTo>
                  <a:pt x="0" y="8768672"/>
                </a:lnTo>
                <a:lnTo>
                  <a:pt x="0" y="0"/>
                </a:lnTo>
                <a:close/>
              </a:path>
            </a:pathLst>
          </a:custGeom>
          <a:blipFill>
            <a:blip r:embed="rId3"/>
            <a:stretch>
              <a:fillRect l="0" t="0" r="0" b="0"/>
            </a:stretch>
          </a:blipFill>
        </p:spPr>
      </p:sp>
      <p:sp>
        <p:nvSpPr>
          <p:cNvPr name="TextBox 9" id="9"/>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0432" y="293132"/>
            <a:ext cx="14551105" cy="9700736"/>
          </a:xfrm>
          <a:custGeom>
            <a:avLst/>
            <a:gdLst/>
            <a:ahLst/>
            <a:cxnLst/>
            <a:rect r="r" b="b" t="t" l="l"/>
            <a:pathLst>
              <a:path h="9700736" w="14551105">
                <a:moveTo>
                  <a:pt x="0" y="0"/>
                </a:moveTo>
                <a:lnTo>
                  <a:pt x="14551104" y="0"/>
                </a:lnTo>
                <a:lnTo>
                  <a:pt x="14551104" y="9700736"/>
                </a:lnTo>
                <a:lnTo>
                  <a:pt x="0" y="9700736"/>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891540" y="-1076332"/>
            <a:ext cx="16911828" cy="3960502"/>
            <a:chOff x="0" y="0"/>
            <a:chExt cx="22549104" cy="5280670"/>
          </a:xfrm>
        </p:grpSpPr>
        <p:sp>
          <p:nvSpPr>
            <p:cNvPr name="Freeform 6" id="6"/>
            <p:cNvSpPr/>
            <p:nvPr/>
          </p:nvSpPr>
          <p:spPr>
            <a:xfrm flipH="false" flipV="false" rot="0">
              <a:off x="0" y="0"/>
              <a:ext cx="22549104" cy="5280670"/>
            </a:xfrm>
            <a:custGeom>
              <a:avLst/>
              <a:gdLst/>
              <a:ahLst/>
              <a:cxnLst/>
              <a:rect r="r" b="b" t="t" l="l"/>
              <a:pathLst>
                <a:path h="5280670" w="22549104">
                  <a:moveTo>
                    <a:pt x="0" y="0"/>
                  </a:moveTo>
                  <a:lnTo>
                    <a:pt x="22549104" y="0"/>
                  </a:lnTo>
                  <a:lnTo>
                    <a:pt x="22549104" y="5280670"/>
                  </a:lnTo>
                  <a:lnTo>
                    <a:pt x="0" y="5280670"/>
                  </a:lnTo>
                  <a:close/>
                </a:path>
              </a:pathLst>
            </a:custGeom>
            <a:blipFill>
              <a:blip r:embed="rId2">
                <a:alphaModFix amt="0"/>
              </a:blip>
              <a:stretch>
                <a:fillRect l="0" t="-67619" r="0" b="1212"/>
              </a:stretch>
            </a:blipFill>
          </p:spPr>
        </p:sp>
        <p:sp>
          <p:nvSpPr>
            <p:cNvPr name="TextBox 7" id="7"/>
            <p:cNvSpPr txBox="true"/>
            <p:nvPr/>
          </p:nvSpPr>
          <p:spPr>
            <a:xfrm>
              <a:off x="0" y="-9525"/>
              <a:ext cx="22549104" cy="529019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Snapshots of Queries</a:t>
              </a:r>
            </a:p>
          </p:txBody>
        </p:sp>
      </p:grpSp>
      <p:sp>
        <p:nvSpPr>
          <p:cNvPr name="Freeform 8" id="8"/>
          <p:cNvSpPr/>
          <p:nvPr/>
        </p:nvSpPr>
        <p:spPr>
          <a:xfrm flipH="false" flipV="false" rot="0">
            <a:off x="685800" y="1640147"/>
            <a:ext cx="6493960" cy="6669493"/>
          </a:xfrm>
          <a:custGeom>
            <a:avLst/>
            <a:gdLst/>
            <a:ahLst/>
            <a:cxnLst/>
            <a:rect r="r" b="b" t="t" l="l"/>
            <a:pathLst>
              <a:path h="6669493" w="6493960">
                <a:moveTo>
                  <a:pt x="0" y="0"/>
                </a:moveTo>
                <a:lnTo>
                  <a:pt x="6493960" y="0"/>
                </a:lnTo>
                <a:lnTo>
                  <a:pt x="6493960" y="6669492"/>
                </a:lnTo>
                <a:lnTo>
                  <a:pt x="0" y="6669492"/>
                </a:lnTo>
                <a:lnTo>
                  <a:pt x="0" y="0"/>
                </a:lnTo>
                <a:close/>
              </a:path>
            </a:pathLst>
          </a:custGeom>
          <a:blipFill>
            <a:blip r:embed="rId3"/>
            <a:stretch>
              <a:fillRect l="0" t="0" r="-91611" b="-4944"/>
            </a:stretch>
          </a:blipFill>
        </p:spPr>
      </p:sp>
      <p:sp>
        <p:nvSpPr>
          <p:cNvPr name="Freeform 9" id="9"/>
          <p:cNvSpPr/>
          <p:nvPr/>
        </p:nvSpPr>
        <p:spPr>
          <a:xfrm flipH="false" flipV="false" rot="0">
            <a:off x="7531219" y="1782604"/>
            <a:ext cx="10272149" cy="6384579"/>
          </a:xfrm>
          <a:custGeom>
            <a:avLst/>
            <a:gdLst/>
            <a:ahLst/>
            <a:cxnLst/>
            <a:rect r="r" b="b" t="t" l="l"/>
            <a:pathLst>
              <a:path h="6384579" w="10272149">
                <a:moveTo>
                  <a:pt x="0" y="0"/>
                </a:moveTo>
                <a:lnTo>
                  <a:pt x="10272149" y="0"/>
                </a:lnTo>
                <a:lnTo>
                  <a:pt x="10272149" y="6384578"/>
                </a:lnTo>
                <a:lnTo>
                  <a:pt x="0" y="6384578"/>
                </a:lnTo>
                <a:lnTo>
                  <a:pt x="0" y="0"/>
                </a:lnTo>
                <a:close/>
              </a:path>
            </a:pathLst>
          </a:custGeom>
          <a:blipFill>
            <a:blip r:embed="rId4"/>
            <a:stretch>
              <a:fillRect l="0" t="0" r="-18121" b="-6900"/>
            </a:stretch>
          </a:blipFill>
        </p:spPr>
      </p:sp>
      <p:sp>
        <p:nvSpPr>
          <p:cNvPr name="TextBox 10" id="10"/>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891540" y="-1076332"/>
            <a:ext cx="16911828" cy="3960502"/>
            <a:chOff x="0" y="0"/>
            <a:chExt cx="22549104" cy="5280670"/>
          </a:xfrm>
        </p:grpSpPr>
        <p:sp>
          <p:nvSpPr>
            <p:cNvPr name="Freeform 6" id="6"/>
            <p:cNvSpPr/>
            <p:nvPr/>
          </p:nvSpPr>
          <p:spPr>
            <a:xfrm flipH="false" flipV="false" rot="0">
              <a:off x="0" y="0"/>
              <a:ext cx="22549104" cy="5280670"/>
            </a:xfrm>
            <a:custGeom>
              <a:avLst/>
              <a:gdLst/>
              <a:ahLst/>
              <a:cxnLst/>
              <a:rect r="r" b="b" t="t" l="l"/>
              <a:pathLst>
                <a:path h="5280670" w="22549104">
                  <a:moveTo>
                    <a:pt x="0" y="0"/>
                  </a:moveTo>
                  <a:lnTo>
                    <a:pt x="22549104" y="0"/>
                  </a:lnTo>
                  <a:lnTo>
                    <a:pt x="22549104" y="5280670"/>
                  </a:lnTo>
                  <a:lnTo>
                    <a:pt x="0" y="5280670"/>
                  </a:lnTo>
                  <a:close/>
                </a:path>
              </a:pathLst>
            </a:custGeom>
            <a:blipFill>
              <a:blip r:embed="rId2">
                <a:alphaModFix amt="0"/>
              </a:blip>
              <a:stretch>
                <a:fillRect l="0" t="-67619" r="0" b="1212"/>
              </a:stretch>
            </a:blipFill>
          </p:spPr>
        </p:sp>
        <p:sp>
          <p:nvSpPr>
            <p:cNvPr name="TextBox 7" id="7"/>
            <p:cNvSpPr txBox="true"/>
            <p:nvPr/>
          </p:nvSpPr>
          <p:spPr>
            <a:xfrm>
              <a:off x="0" y="-9525"/>
              <a:ext cx="22549104" cy="529019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Snapshots of Queries</a:t>
              </a:r>
            </a:p>
          </p:txBody>
        </p:sp>
      </p:grpSp>
      <p:sp>
        <p:nvSpPr>
          <p:cNvPr name="Freeform 8" id="8"/>
          <p:cNvSpPr/>
          <p:nvPr/>
        </p:nvSpPr>
        <p:spPr>
          <a:xfrm flipH="false" flipV="false" rot="0">
            <a:off x="1942135" y="1539748"/>
            <a:ext cx="6963573" cy="7599004"/>
          </a:xfrm>
          <a:custGeom>
            <a:avLst/>
            <a:gdLst/>
            <a:ahLst/>
            <a:cxnLst/>
            <a:rect r="r" b="b" t="t" l="l"/>
            <a:pathLst>
              <a:path h="7599004" w="6963573">
                <a:moveTo>
                  <a:pt x="0" y="0"/>
                </a:moveTo>
                <a:lnTo>
                  <a:pt x="6963573" y="0"/>
                </a:lnTo>
                <a:lnTo>
                  <a:pt x="6963573" y="7599004"/>
                </a:lnTo>
                <a:lnTo>
                  <a:pt x="0" y="7599004"/>
                </a:lnTo>
                <a:lnTo>
                  <a:pt x="0" y="0"/>
                </a:lnTo>
                <a:close/>
              </a:path>
            </a:pathLst>
          </a:custGeom>
          <a:blipFill>
            <a:blip r:embed="rId3"/>
            <a:stretch>
              <a:fillRect l="0" t="0" r="-104898" b="-5617"/>
            </a:stretch>
          </a:blipFill>
        </p:spPr>
      </p:sp>
      <p:sp>
        <p:nvSpPr>
          <p:cNvPr name="Freeform 9" id="9"/>
          <p:cNvSpPr/>
          <p:nvPr/>
        </p:nvSpPr>
        <p:spPr>
          <a:xfrm flipH="false" flipV="false" rot="0">
            <a:off x="9347454" y="1539748"/>
            <a:ext cx="6633214" cy="7838100"/>
          </a:xfrm>
          <a:custGeom>
            <a:avLst/>
            <a:gdLst/>
            <a:ahLst/>
            <a:cxnLst/>
            <a:rect r="r" b="b" t="t" l="l"/>
            <a:pathLst>
              <a:path h="7838100" w="6633214">
                <a:moveTo>
                  <a:pt x="0" y="0"/>
                </a:moveTo>
                <a:lnTo>
                  <a:pt x="6633214" y="0"/>
                </a:lnTo>
                <a:lnTo>
                  <a:pt x="6633214" y="7838100"/>
                </a:lnTo>
                <a:lnTo>
                  <a:pt x="0" y="7838100"/>
                </a:lnTo>
                <a:lnTo>
                  <a:pt x="0" y="0"/>
                </a:lnTo>
                <a:close/>
              </a:path>
            </a:pathLst>
          </a:custGeom>
          <a:blipFill>
            <a:blip r:embed="rId4"/>
            <a:stretch>
              <a:fillRect l="0" t="0" r="-123968" b="-6616"/>
            </a:stretch>
          </a:blipFill>
        </p:spPr>
      </p:sp>
      <p:sp>
        <p:nvSpPr>
          <p:cNvPr name="TextBox 10" id="10"/>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891540" y="-1076332"/>
            <a:ext cx="16911828" cy="3960502"/>
            <a:chOff x="0" y="0"/>
            <a:chExt cx="22549104" cy="5280670"/>
          </a:xfrm>
        </p:grpSpPr>
        <p:sp>
          <p:nvSpPr>
            <p:cNvPr name="Freeform 6" id="6"/>
            <p:cNvSpPr/>
            <p:nvPr/>
          </p:nvSpPr>
          <p:spPr>
            <a:xfrm flipH="false" flipV="false" rot="0">
              <a:off x="0" y="0"/>
              <a:ext cx="22549104" cy="5280670"/>
            </a:xfrm>
            <a:custGeom>
              <a:avLst/>
              <a:gdLst/>
              <a:ahLst/>
              <a:cxnLst/>
              <a:rect r="r" b="b" t="t" l="l"/>
              <a:pathLst>
                <a:path h="5280670" w="22549104">
                  <a:moveTo>
                    <a:pt x="0" y="0"/>
                  </a:moveTo>
                  <a:lnTo>
                    <a:pt x="22549104" y="0"/>
                  </a:lnTo>
                  <a:lnTo>
                    <a:pt x="22549104" y="5280670"/>
                  </a:lnTo>
                  <a:lnTo>
                    <a:pt x="0" y="5280670"/>
                  </a:lnTo>
                  <a:close/>
                </a:path>
              </a:pathLst>
            </a:custGeom>
            <a:blipFill>
              <a:blip r:embed="rId2">
                <a:alphaModFix amt="0"/>
              </a:blip>
              <a:stretch>
                <a:fillRect l="0" t="-67619" r="0" b="1212"/>
              </a:stretch>
            </a:blipFill>
          </p:spPr>
        </p:sp>
        <p:sp>
          <p:nvSpPr>
            <p:cNvPr name="TextBox 7" id="7"/>
            <p:cNvSpPr txBox="true"/>
            <p:nvPr/>
          </p:nvSpPr>
          <p:spPr>
            <a:xfrm>
              <a:off x="0" y="-9525"/>
              <a:ext cx="22549104" cy="529019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Snapshots of Queries</a:t>
              </a:r>
            </a:p>
          </p:txBody>
        </p:sp>
      </p:grpSp>
      <p:sp>
        <p:nvSpPr>
          <p:cNvPr name="Freeform 8" id="8"/>
          <p:cNvSpPr/>
          <p:nvPr/>
        </p:nvSpPr>
        <p:spPr>
          <a:xfrm flipH="false" flipV="false" rot="0">
            <a:off x="498380" y="1914381"/>
            <a:ext cx="12013250" cy="6757453"/>
          </a:xfrm>
          <a:custGeom>
            <a:avLst/>
            <a:gdLst/>
            <a:ahLst/>
            <a:cxnLst/>
            <a:rect r="r" b="b" t="t" l="l"/>
            <a:pathLst>
              <a:path h="6757453" w="12013250">
                <a:moveTo>
                  <a:pt x="0" y="0"/>
                </a:moveTo>
                <a:lnTo>
                  <a:pt x="12013250" y="0"/>
                </a:lnTo>
                <a:lnTo>
                  <a:pt x="12013250" y="6757453"/>
                </a:lnTo>
                <a:lnTo>
                  <a:pt x="0" y="6757453"/>
                </a:lnTo>
                <a:lnTo>
                  <a:pt x="0" y="0"/>
                </a:lnTo>
                <a:close/>
              </a:path>
            </a:pathLst>
          </a:custGeom>
          <a:blipFill>
            <a:blip r:embed="rId3"/>
            <a:stretch>
              <a:fillRect l="0" t="0" r="0" b="0"/>
            </a:stretch>
          </a:blipFill>
        </p:spPr>
      </p:sp>
      <p:sp>
        <p:nvSpPr>
          <p:cNvPr name="Freeform 9" id="9"/>
          <p:cNvSpPr/>
          <p:nvPr/>
        </p:nvSpPr>
        <p:spPr>
          <a:xfrm flipH="false" flipV="false" rot="0">
            <a:off x="12929681" y="1914381"/>
            <a:ext cx="4676462" cy="6757453"/>
          </a:xfrm>
          <a:custGeom>
            <a:avLst/>
            <a:gdLst/>
            <a:ahLst/>
            <a:cxnLst/>
            <a:rect r="r" b="b" t="t" l="l"/>
            <a:pathLst>
              <a:path h="6757453" w="4676462">
                <a:moveTo>
                  <a:pt x="0" y="0"/>
                </a:moveTo>
                <a:lnTo>
                  <a:pt x="4676463" y="0"/>
                </a:lnTo>
                <a:lnTo>
                  <a:pt x="4676463" y="6757453"/>
                </a:lnTo>
                <a:lnTo>
                  <a:pt x="0" y="6757453"/>
                </a:lnTo>
                <a:lnTo>
                  <a:pt x="0" y="0"/>
                </a:lnTo>
                <a:close/>
              </a:path>
            </a:pathLst>
          </a:custGeom>
          <a:blipFill>
            <a:blip r:embed="rId4"/>
            <a:stretch>
              <a:fillRect l="0" t="0" r="-156887" b="0"/>
            </a:stretch>
          </a:blipFill>
        </p:spPr>
      </p:sp>
      <p:sp>
        <p:nvSpPr>
          <p:cNvPr name="TextBox 10" id="10"/>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891540" y="-1076332"/>
            <a:ext cx="16911828" cy="3960502"/>
            <a:chOff x="0" y="0"/>
            <a:chExt cx="22549104" cy="5280670"/>
          </a:xfrm>
        </p:grpSpPr>
        <p:sp>
          <p:nvSpPr>
            <p:cNvPr name="Freeform 6" id="6"/>
            <p:cNvSpPr/>
            <p:nvPr/>
          </p:nvSpPr>
          <p:spPr>
            <a:xfrm flipH="false" flipV="false" rot="0">
              <a:off x="0" y="0"/>
              <a:ext cx="22549104" cy="5280670"/>
            </a:xfrm>
            <a:custGeom>
              <a:avLst/>
              <a:gdLst/>
              <a:ahLst/>
              <a:cxnLst/>
              <a:rect r="r" b="b" t="t" l="l"/>
              <a:pathLst>
                <a:path h="5280670" w="22549104">
                  <a:moveTo>
                    <a:pt x="0" y="0"/>
                  </a:moveTo>
                  <a:lnTo>
                    <a:pt x="22549104" y="0"/>
                  </a:lnTo>
                  <a:lnTo>
                    <a:pt x="22549104" y="5280670"/>
                  </a:lnTo>
                  <a:lnTo>
                    <a:pt x="0" y="5280670"/>
                  </a:lnTo>
                  <a:close/>
                </a:path>
              </a:pathLst>
            </a:custGeom>
            <a:blipFill>
              <a:blip r:embed="rId2">
                <a:alphaModFix amt="0"/>
              </a:blip>
              <a:stretch>
                <a:fillRect l="0" t="-67619" r="0" b="1212"/>
              </a:stretch>
            </a:blipFill>
          </p:spPr>
        </p:sp>
        <p:sp>
          <p:nvSpPr>
            <p:cNvPr name="TextBox 7" id="7"/>
            <p:cNvSpPr txBox="true"/>
            <p:nvPr/>
          </p:nvSpPr>
          <p:spPr>
            <a:xfrm>
              <a:off x="0" y="-9525"/>
              <a:ext cx="22549104" cy="529019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Snapshots of Queries</a:t>
              </a:r>
            </a:p>
          </p:txBody>
        </p:sp>
      </p:grpSp>
      <p:sp>
        <p:nvSpPr>
          <p:cNvPr name="Freeform 8" id="8"/>
          <p:cNvSpPr/>
          <p:nvPr/>
        </p:nvSpPr>
        <p:spPr>
          <a:xfrm flipH="false" flipV="false" rot="0">
            <a:off x="891540" y="1583141"/>
            <a:ext cx="16367760" cy="6838285"/>
          </a:xfrm>
          <a:custGeom>
            <a:avLst/>
            <a:gdLst/>
            <a:ahLst/>
            <a:cxnLst/>
            <a:rect r="r" b="b" t="t" l="l"/>
            <a:pathLst>
              <a:path h="6838285" w="16367760">
                <a:moveTo>
                  <a:pt x="0" y="0"/>
                </a:moveTo>
                <a:lnTo>
                  <a:pt x="16367760" y="0"/>
                </a:lnTo>
                <a:lnTo>
                  <a:pt x="16367760" y="6838285"/>
                </a:lnTo>
                <a:lnTo>
                  <a:pt x="0" y="6838285"/>
                </a:lnTo>
                <a:lnTo>
                  <a:pt x="0" y="0"/>
                </a:lnTo>
                <a:close/>
              </a:path>
            </a:pathLst>
          </a:custGeom>
          <a:blipFill>
            <a:blip r:embed="rId3"/>
            <a:stretch>
              <a:fillRect l="0" t="0" r="0" b="-34637"/>
            </a:stretch>
          </a:blipFill>
        </p:spPr>
      </p:sp>
      <p:sp>
        <p:nvSpPr>
          <p:cNvPr name="TextBox 9" id="9"/>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9669780"/>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2">
                <a:alphaModFix amt="0"/>
              </a:blip>
              <a:stretch>
                <a:fillRect l="0" t="-469601" r="0" b="-469601"/>
              </a:stretch>
            </a:blipFill>
          </p:spPr>
        </p:sp>
        <p:sp>
          <p:nvSpPr>
            <p:cNvPr name="TextBox 4" id="4"/>
            <p:cNvSpPr txBox="true"/>
            <p:nvPr/>
          </p:nvSpPr>
          <p:spPr>
            <a:xfrm>
              <a:off x="0" y="-38100"/>
              <a:ext cx="14630400" cy="586740"/>
            </a:xfrm>
            <a:prstGeom prst="rect">
              <a:avLst/>
            </a:prstGeom>
          </p:spPr>
          <p:txBody>
            <a:bodyPr anchor="ctr" rtlCol="false" tIns="0" lIns="0" bIns="0" rIns="0"/>
            <a:lstStyle/>
            <a:p>
              <a:pPr algn="l">
                <a:lnSpc>
                  <a:spcPts val="1800"/>
                </a:lnSpc>
              </a:pPr>
              <a:r>
                <a:rPr lang="en-US" sz="1500">
                  <a:solidFill>
                    <a:srgbClr val="0B2A5B"/>
                  </a:solidFill>
                  <a:latin typeface="Calibri (MS)"/>
                  <a:ea typeface="Calibri (MS)"/>
                  <a:cs typeface="Calibri (MS)"/>
                  <a:sym typeface="Calibri (MS)"/>
                </a:rPr>
                <a:t>Parking Management System  |  DBMS Mini Project  |  MySQL 5.5</a:t>
              </a:r>
            </a:p>
          </p:txBody>
        </p:sp>
      </p:grpSp>
      <p:grpSp>
        <p:nvGrpSpPr>
          <p:cNvPr name="Group 5" id="5"/>
          <p:cNvGrpSpPr/>
          <p:nvPr/>
        </p:nvGrpSpPr>
        <p:grpSpPr>
          <a:xfrm rot="0">
            <a:off x="685800" y="411480"/>
            <a:ext cx="16911828" cy="1234440"/>
            <a:chOff x="0" y="0"/>
            <a:chExt cx="22549104" cy="1645920"/>
          </a:xfrm>
        </p:grpSpPr>
        <p:sp>
          <p:nvSpPr>
            <p:cNvPr name="Freeform 6" id="6"/>
            <p:cNvSpPr/>
            <p:nvPr/>
          </p:nvSpPr>
          <p:spPr>
            <a:xfrm flipH="false" flipV="false" rot="0">
              <a:off x="0" y="0"/>
              <a:ext cx="22549104" cy="1645920"/>
            </a:xfrm>
            <a:custGeom>
              <a:avLst/>
              <a:gdLst/>
              <a:ahLst/>
              <a:cxnLst/>
              <a:rect r="r" b="b" t="t" l="l"/>
              <a:pathLst>
                <a:path h="1645920" w="22549104">
                  <a:moveTo>
                    <a:pt x="0" y="0"/>
                  </a:moveTo>
                  <a:lnTo>
                    <a:pt x="22549104" y="0"/>
                  </a:lnTo>
                  <a:lnTo>
                    <a:pt x="22549104" y="1645920"/>
                  </a:lnTo>
                  <a:lnTo>
                    <a:pt x="0" y="1645920"/>
                  </a:lnTo>
                  <a:close/>
                </a:path>
              </a:pathLst>
            </a:custGeom>
            <a:blipFill>
              <a:blip r:embed="rId2">
                <a:alphaModFix amt="0"/>
              </a:blip>
              <a:stretch>
                <a:fillRect l="0" t="-216945" r="0" b="-216945"/>
              </a:stretch>
            </a:blipFill>
          </p:spPr>
        </p:sp>
        <p:sp>
          <p:nvSpPr>
            <p:cNvPr name="TextBox 7" id="7"/>
            <p:cNvSpPr txBox="true"/>
            <p:nvPr/>
          </p:nvSpPr>
          <p:spPr>
            <a:xfrm>
              <a:off x="0" y="-9525"/>
              <a:ext cx="22549104" cy="1655445"/>
            </a:xfrm>
            <a:prstGeom prst="rect">
              <a:avLst/>
            </a:prstGeom>
          </p:spPr>
          <p:txBody>
            <a:bodyPr anchor="ctr" rtlCol="false" tIns="0" lIns="0" bIns="0" rIns="0"/>
            <a:lstStyle/>
            <a:p>
              <a:pPr algn="ctr">
                <a:lnSpc>
                  <a:spcPts val="6480"/>
                </a:lnSpc>
              </a:pPr>
              <a:r>
                <a:rPr lang="en-US" sz="5400" b="true">
                  <a:solidFill>
                    <a:srgbClr val="0B2A5B"/>
                  </a:solidFill>
                  <a:latin typeface="Cambria Bold"/>
                  <a:ea typeface="Cambria Bold"/>
                  <a:cs typeface="Cambria Bold"/>
                  <a:sym typeface="Cambria Bold"/>
                </a:rPr>
                <a:t>Future Scope, Conclusion &amp; References</a:t>
              </a:r>
            </a:p>
          </p:txBody>
        </p:sp>
      </p:grpSp>
      <p:grpSp>
        <p:nvGrpSpPr>
          <p:cNvPr name="Group 8" id="8"/>
          <p:cNvGrpSpPr/>
          <p:nvPr/>
        </p:nvGrpSpPr>
        <p:grpSpPr>
          <a:xfrm rot="0">
            <a:off x="685800" y="1988820"/>
            <a:ext cx="5760720" cy="7406640"/>
            <a:chOff x="0" y="0"/>
            <a:chExt cx="7680960" cy="9875520"/>
          </a:xfrm>
        </p:grpSpPr>
        <p:sp>
          <p:nvSpPr>
            <p:cNvPr name="Freeform 9" id="9"/>
            <p:cNvSpPr/>
            <p:nvPr/>
          </p:nvSpPr>
          <p:spPr>
            <a:xfrm flipH="false" flipV="false" rot="0">
              <a:off x="0" y="0"/>
              <a:ext cx="7680960" cy="9875520"/>
            </a:xfrm>
            <a:custGeom>
              <a:avLst/>
              <a:gdLst/>
              <a:ahLst/>
              <a:cxnLst/>
              <a:rect r="r" b="b" t="t" l="l"/>
              <a:pathLst>
                <a:path h="9875520" w="7680960">
                  <a:moveTo>
                    <a:pt x="0" y="182880"/>
                  </a:moveTo>
                  <a:cubicBezTo>
                    <a:pt x="0" y="81915"/>
                    <a:pt x="81915" y="0"/>
                    <a:pt x="182880" y="0"/>
                  </a:cubicBezTo>
                  <a:lnTo>
                    <a:pt x="7498080" y="0"/>
                  </a:lnTo>
                  <a:cubicBezTo>
                    <a:pt x="7599045" y="0"/>
                    <a:pt x="7680960" y="81915"/>
                    <a:pt x="7680960" y="182880"/>
                  </a:cubicBezTo>
                  <a:lnTo>
                    <a:pt x="7680960" y="9692640"/>
                  </a:lnTo>
                  <a:cubicBezTo>
                    <a:pt x="7680960" y="9793605"/>
                    <a:pt x="7599045" y="9875520"/>
                    <a:pt x="7498080" y="9875520"/>
                  </a:cubicBezTo>
                  <a:lnTo>
                    <a:pt x="182880" y="9875520"/>
                  </a:lnTo>
                  <a:cubicBezTo>
                    <a:pt x="81915" y="9875520"/>
                    <a:pt x="0" y="9793605"/>
                    <a:pt x="0" y="9692640"/>
                  </a:cubicBezTo>
                  <a:close/>
                </a:path>
              </a:pathLst>
            </a:custGeom>
            <a:solidFill>
              <a:srgbClr val="EAF2FC"/>
            </a:solidFill>
          </p:spPr>
        </p:sp>
      </p:grpSp>
      <p:grpSp>
        <p:nvGrpSpPr>
          <p:cNvPr name="Group 10" id="10"/>
          <p:cNvGrpSpPr/>
          <p:nvPr/>
        </p:nvGrpSpPr>
        <p:grpSpPr>
          <a:xfrm rot="0">
            <a:off x="960120" y="2263140"/>
            <a:ext cx="685800" cy="685800"/>
            <a:chOff x="0" y="0"/>
            <a:chExt cx="914400" cy="914400"/>
          </a:xfrm>
        </p:grpSpPr>
        <p:sp>
          <p:nvSpPr>
            <p:cNvPr name="Freeform 11" id="1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2468C9"/>
            </a:solidFill>
          </p:spPr>
        </p:sp>
      </p:grpSp>
      <p:grpSp>
        <p:nvGrpSpPr>
          <p:cNvPr name="Group 12" id="12"/>
          <p:cNvGrpSpPr/>
          <p:nvPr/>
        </p:nvGrpSpPr>
        <p:grpSpPr>
          <a:xfrm rot="0">
            <a:off x="1131570" y="2434590"/>
            <a:ext cx="342900" cy="342900"/>
            <a:chOff x="0" y="0"/>
            <a:chExt cx="457200" cy="457200"/>
          </a:xfrm>
        </p:grpSpPr>
        <p:sp>
          <p:nvSpPr>
            <p:cNvPr name="Freeform 13" id="13"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stretch>
                <a:fillRect l="0" t="0" r="0" b="0"/>
              </a:stretch>
            </a:blipFill>
          </p:spPr>
        </p:sp>
      </p:grpSp>
      <p:grpSp>
        <p:nvGrpSpPr>
          <p:cNvPr name="Group 14" id="14"/>
          <p:cNvGrpSpPr/>
          <p:nvPr/>
        </p:nvGrpSpPr>
        <p:grpSpPr>
          <a:xfrm rot="0">
            <a:off x="1851660" y="2263140"/>
            <a:ext cx="4389120" cy="685800"/>
            <a:chOff x="0" y="0"/>
            <a:chExt cx="5852160" cy="914400"/>
          </a:xfrm>
        </p:grpSpPr>
        <p:sp>
          <p:nvSpPr>
            <p:cNvPr name="Freeform 15" id="15"/>
            <p:cNvSpPr/>
            <p:nvPr/>
          </p:nvSpPr>
          <p:spPr>
            <a:xfrm flipH="false" flipV="false" rot="0">
              <a:off x="0" y="0"/>
              <a:ext cx="5852160" cy="914400"/>
            </a:xfrm>
            <a:custGeom>
              <a:avLst/>
              <a:gdLst/>
              <a:ahLst/>
              <a:cxnLst/>
              <a:rect r="r" b="b" t="t" l="l"/>
              <a:pathLst>
                <a:path h="914400" w="5852160">
                  <a:moveTo>
                    <a:pt x="0" y="0"/>
                  </a:moveTo>
                  <a:lnTo>
                    <a:pt x="5852160" y="0"/>
                  </a:lnTo>
                  <a:lnTo>
                    <a:pt x="5852160" y="914400"/>
                  </a:lnTo>
                  <a:lnTo>
                    <a:pt x="0" y="914400"/>
                  </a:lnTo>
                  <a:close/>
                </a:path>
              </a:pathLst>
            </a:custGeom>
            <a:blipFill>
              <a:blip r:embed="rId2">
                <a:alphaModFix amt="0"/>
              </a:blip>
              <a:stretch>
                <a:fillRect l="0" t="-74704" r="0" b="-74704"/>
              </a:stretch>
            </a:blipFill>
          </p:spPr>
        </p:sp>
        <p:sp>
          <p:nvSpPr>
            <p:cNvPr name="TextBox 16" id="16"/>
            <p:cNvSpPr txBox="true"/>
            <p:nvPr/>
          </p:nvSpPr>
          <p:spPr>
            <a:xfrm>
              <a:off x="0" y="-66675"/>
              <a:ext cx="5852160" cy="981075"/>
            </a:xfrm>
            <a:prstGeom prst="rect">
              <a:avLst/>
            </a:prstGeom>
          </p:spPr>
          <p:txBody>
            <a:bodyPr anchor="ctr" rtlCol="false" tIns="0" lIns="0" bIns="0" rIns="0"/>
            <a:lstStyle/>
            <a:p>
              <a:pPr algn="l">
                <a:lnSpc>
                  <a:spcPts val="3600"/>
                </a:lnSpc>
              </a:pPr>
              <a:r>
                <a:rPr lang="en-US" sz="3000" b="true">
                  <a:solidFill>
                    <a:srgbClr val="0B2A5B"/>
                  </a:solidFill>
                  <a:latin typeface="Calibri (MS) Bold"/>
                  <a:ea typeface="Calibri (MS) Bold"/>
                  <a:cs typeface="Calibri (MS) Bold"/>
                  <a:sym typeface="Calibri (MS) Bold"/>
                </a:rPr>
                <a:t>Future Improvements</a:t>
              </a:r>
            </a:p>
          </p:txBody>
        </p:sp>
      </p:grpSp>
      <p:grpSp>
        <p:nvGrpSpPr>
          <p:cNvPr name="Group 17" id="17"/>
          <p:cNvGrpSpPr/>
          <p:nvPr/>
        </p:nvGrpSpPr>
        <p:grpSpPr>
          <a:xfrm rot="0">
            <a:off x="960120" y="3154680"/>
            <a:ext cx="3977640" cy="438912"/>
            <a:chOff x="0" y="0"/>
            <a:chExt cx="5303520" cy="585216"/>
          </a:xfrm>
        </p:grpSpPr>
        <p:sp>
          <p:nvSpPr>
            <p:cNvPr name="Freeform 18" id="18"/>
            <p:cNvSpPr/>
            <p:nvPr/>
          </p:nvSpPr>
          <p:spPr>
            <a:xfrm flipH="false" flipV="false" rot="0">
              <a:off x="0" y="0"/>
              <a:ext cx="5303520" cy="585216"/>
            </a:xfrm>
            <a:custGeom>
              <a:avLst/>
              <a:gdLst/>
              <a:ahLst/>
              <a:cxnLst/>
              <a:rect r="r" b="b" t="t" l="l"/>
              <a:pathLst>
                <a:path h="585216" w="5303520">
                  <a:moveTo>
                    <a:pt x="0" y="182880"/>
                  </a:moveTo>
                  <a:cubicBezTo>
                    <a:pt x="0" y="81915"/>
                    <a:pt x="81915" y="0"/>
                    <a:pt x="182880" y="0"/>
                  </a:cubicBezTo>
                  <a:lnTo>
                    <a:pt x="5120640" y="0"/>
                  </a:lnTo>
                  <a:cubicBezTo>
                    <a:pt x="5221605" y="0"/>
                    <a:pt x="5303520" y="81915"/>
                    <a:pt x="5303520" y="182880"/>
                  </a:cubicBezTo>
                  <a:lnTo>
                    <a:pt x="5303520" y="402336"/>
                  </a:lnTo>
                  <a:cubicBezTo>
                    <a:pt x="5303520" y="503301"/>
                    <a:pt x="5221605" y="585216"/>
                    <a:pt x="5120640" y="585216"/>
                  </a:cubicBezTo>
                  <a:lnTo>
                    <a:pt x="182880" y="585216"/>
                  </a:lnTo>
                  <a:cubicBezTo>
                    <a:pt x="81915" y="585216"/>
                    <a:pt x="0" y="503301"/>
                    <a:pt x="0" y="402336"/>
                  </a:cubicBezTo>
                  <a:close/>
                </a:path>
              </a:pathLst>
            </a:custGeom>
            <a:solidFill>
              <a:srgbClr val="F2B233"/>
            </a:solidFill>
          </p:spPr>
        </p:sp>
      </p:grpSp>
      <p:grpSp>
        <p:nvGrpSpPr>
          <p:cNvPr name="Group 19" id="19"/>
          <p:cNvGrpSpPr/>
          <p:nvPr/>
        </p:nvGrpSpPr>
        <p:grpSpPr>
          <a:xfrm rot="0">
            <a:off x="960120" y="3154680"/>
            <a:ext cx="3977640" cy="438912"/>
            <a:chOff x="0" y="0"/>
            <a:chExt cx="5303520" cy="585216"/>
          </a:xfrm>
        </p:grpSpPr>
        <p:sp>
          <p:nvSpPr>
            <p:cNvPr name="Freeform 20" id="20"/>
            <p:cNvSpPr/>
            <p:nvPr/>
          </p:nvSpPr>
          <p:spPr>
            <a:xfrm flipH="false" flipV="false" rot="0">
              <a:off x="0" y="0"/>
              <a:ext cx="5303520" cy="585216"/>
            </a:xfrm>
            <a:custGeom>
              <a:avLst/>
              <a:gdLst/>
              <a:ahLst/>
              <a:cxnLst/>
              <a:rect r="r" b="b" t="t" l="l"/>
              <a:pathLst>
                <a:path h="585216" w="5303520">
                  <a:moveTo>
                    <a:pt x="0" y="0"/>
                  </a:moveTo>
                  <a:lnTo>
                    <a:pt x="5303520" y="0"/>
                  </a:lnTo>
                  <a:lnTo>
                    <a:pt x="5303520" y="585216"/>
                  </a:lnTo>
                  <a:lnTo>
                    <a:pt x="0" y="585216"/>
                  </a:lnTo>
                  <a:close/>
                </a:path>
              </a:pathLst>
            </a:custGeom>
            <a:blipFill>
              <a:blip r:embed="rId2">
                <a:alphaModFix amt="0"/>
              </a:blip>
              <a:stretch>
                <a:fillRect l="0" t="-126583" r="0" b="-126583"/>
              </a:stretch>
            </a:blipFill>
          </p:spPr>
        </p:sp>
        <p:sp>
          <p:nvSpPr>
            <p:cNvPr name="TextBox 21" id="21"/>
            <p:cNvSpPr txBox="true"/>
            <p:nvPr/>
          </p:nvSpPr>
          <p:spPr>
            <a:xfrm>
              <a:off x="0" y="-28575"/>
              <a:ext cx="5303520" cy="613791"/>
            </a:xfrm>
            <a:prstGeom prst="rect">
              <a:avLst/>
            </a:prstGeom>
          </p:spPr>
          <p:txBody>
            <a:bodyPr anchor="ctr" rtlCol="false" tIns="0" lIns="0" bIns="0" rIns="0"/>
            <a:lstStyle/>
            <a:p>
              <a:pPr algn="ctr">
                <a:lnSpc>
                  <a:spcPts val="1980"/>
                </a:lnSpc>
              </a:pPr>
              <a:r>
                <a:rPr lang="en-US" sz="1650" b="true">
                  <a:solidFill>
                    <a:srgbClr val="0B2A5B"/>
                  </a:solidFill>
                  <a:latin typeface="Calibri (MS) Bold"/>
                  <a:ea typeface="Calibri (MS) Bold"/>
                  <a:cs typeface="Calibri (MS) Bold"/>
                  <a:sym typeface="Calibri (MS) Bold"/>
                </a:rPr>
                <a:t>PROPOSED, NOT IMPLEMENTED</a:t>
              </a:r>
            </a:p>
          </p:txBody>
        </p:sp>
      </p:grpSp>
      <p:grpSp>
        <p:nvGrpSpPr>
          <p:cNvPr name="Group 22" id="22"/>
          <p:cNvGrpSpPr/>
          <p:nvPr/>
        </p:nvGrpSpPr>
        <p:grpSpPr>
          <a:xfrm rot="0">
            <a:off x="960120" y="4046220"/>
            <a:ext cx="548640" cy="548640"/>
            <a:chOff x="0" y="0"/>
            <a:chExt cx="731520" cy="731520"/>
          </a:xfrm>
        </p:grpSpPr>
        <p:sp>
          <p:nvSpPr>
            <p:cNvPr name="Freeform 23" id="23"/>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468C9"/>
            </a:solidFill>
          </p:spPr>
        </p:sp>
      </p:grpSp>
      <p:grpSp>
        <p:nvGrpSpPr>
          <p:cNvPr name="Group 24" id="24"/>
          <p:cNvGrpSpPr/>
          <p:nvPr/>
        </p:nvGrpSpPr>
        <p:grpSpPr>
          <a:xfrm rot="0">
            <a:off x="960120" y="4046220"/>
            <a:ext cx="548640" cy="548640"/>
            <a:chOff x="0" y="0"/>
            <a:chExt cx="731520" cy="731520"/>
          </a:xfrm>
        </p:grpSpPr>
        <p:sp>
          <p:nvSpPr>
            <p:cNvPr name="Freeform 25" id="25"/>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26" id="26"/>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27" id="27"/>
          <p:cNvGrpSpPr/>
          <p:nvPr/>
        </p:nvGrpSpPr>
        <p:grpSpPr>
          <a:xfrm rot="0">
            <a:off x="1714500" y="3977640"/>
            <a:ext cx="4526280" cy="685800"/>
            <a:chOff x="0" y="0"/>
            <a:chExt cx="6035040" cy="914400"/>
          </a:xfrm>
        </p:grpSpPr>
        <p:sp>
          <p:nvSpPr>
            <p:cNvPr name="Freeform 28" id="28"/>
            <p:cNvSpPr/>
            <p:nvPr/>
          </p:nvSpPr>
          <p:spPr>
            <a:xfrm flipH="false" flipV="false" rot="0">
              <a:off x="0" y="0"/>
              <a:ext cx="6035040" cy="914400"/>
            </a:xfrm>
            <a:custGeom>
              <a:avLst/>
              <a:gdLst/>
              <a:ahLst/>
              <a:cxnLst/>
              <a:rect r="r" b="b" t="t" l="l"/>
              <a:pathLst>
                <a:path h="914400" w="6035040">
                  <a:moveTo>
                    <a:pt x="0" y="0"/>
                  </a:moveTo>
                  <a:lnTo>
                    <a:pt x="6035040" y="0"/>
                  </a:lnTo>
                  <a:lnTo>
                    <a:pt x="6035040" y="914400"/>
                  </a:lnTo>
                  <a:lnTo>
                    <a:pt x="0" y="914400"/>
                  </a:lnTo>
                  <a:close/>
                </a:path>
              </a:pathLst>
            </a:custGeom>
            <a:blipFill>
              <a:blip r:embed="rId2">
                <a:alphaModFix amt="0"/>
              </a:blip>
              <a:stretch>
                <a:fillRect l="0" t="-78601" r="0" b="-78601"/>
              </a:stretch>
            </a:blipFill>
          </p:spPr>
        </p:sp>
        <p:sp>
          <p:nvSpPr>
            <p:cNvPr name="TextBox 29" id="29"/>
            <p:cNvSpPr txBox="true"/>
            <p:nvPr/>
          </p:nvSpPr>
          <p:spPr>
            <a:xfrm>
              <a:off x="0" y="-47625"/>
              <a:ext cx="6035040" cy="962025"/>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Automatic parking-fee calculation</a:t>
              </a:r>
            </a:p>
          </p:txBody>
        </p:sp>
      </p:grpSp>
      <p:grpSp>
        <p:nvGrpSpPr>
          <p:cNvPr name="Group 30" id="30"/>
          <p:cNvGrpSpPr/>
          <p:nvPr/>
        </p:nvGrpSpPr>
        <p:grpSpPr>
          <a:xfrm rot="0">
            <a:off x="960120" y="5074920"/>
            <a:ext cx="548640" cy="54864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468C9"/>
            </a:solidFill>
          </p:spPr>
        </p:sp>
      </p:grpSp>
      <p:grpSp>
        <p:nvGrpSpPr>
          <p:cNvPr name="Group 32" id="32"/>
          <p:cNvGrpSpPr/>
          <p:nvPr/>
        </p:nvGrpSpPr>
        <p:grpSpPr>
          <a:xfrm rot="0">
            <a:off x="960120" y="5074920"/>
            <a:ext cx="548640" cy="548640"/>
            <a:chOff x="0" y="0"/>
            <a:chExt cx="731520" cy="731520"/>
          </a:xfrm>
        </p:grpSpPr>
        <p:sp>
          <p:nvSpPr>
            <p:cNvPr name="Freeform 33" id="33"/>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34" id="34"/>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35" id="35"/>
          <p:cNvGrpSpPr/>
          <p:nvPr/>
        </p:nvGrpSpPr>
        <p:grpSpPr>
          <a:xfrm rot="0">
            <a:off x="1714500" y="5006340"/>
            <a:ext cx="4526280" cy="685800"/>
            <a:chOff x="0" y="0"/>
            <a:chExt cx="6035040" cy="914400"/>
          </a:xfrm>
        </p:grpSpPr>
        <p:sp>
          <p:nvSpPr>
            <p:cNvPr name="Freeform 36" id="36"/>
            <p:cNvSpPr/>
            <p:nvPr/>
          </p:nvSpPr>
          <p:spPr>
            <a:xfrm flipH="false" flipV="false" rot="0">
              <a:off x="0" y="0"/>
              <a:ext cx="6035040" cy="914400"/>
            </a:xfrm>
            <a:custGeom>
              <a:avLst/>
              <a:gdLst/>
              <a:ahLst/>
              <a:cxnLst/>
              <a:rect r="r" b="b" t="t" l="l"/>
              <a:pathLst>
                <a:path h="914400" w="6035040">
                  <a:moveTo>
                    <a:pt x="0" y="0"/>
                  </a:moveTo>
                  <a:lnTo>
                    <a:pt x="6035040" y="0"/>
                  </a:lnTo>
                  <a:lnTo>
                    <a:pt x="6035040" y="914400"/>
                  </a:lnTo>
                  <a:lnTo>
                    <a:pt x="0" y="914400"/>
                  </a:lnTo>
                  <a:close/>
                </a:path>
              </a:pathLst>
            </a:custGeom>
            <a:blipFill>
              <a:blip r:embed="rId2">
                <a:alphaModFix amt="0"/>
              </a:blip>
              <a:stretch>
                <a:fillRect l="0" t="-78601" r="0" b="-78601"/>
              </a:stretch>
            </a:blipFill>
          </p:spPr>
        </p:sp>
        <p:sp>
          <p:nvSpPr>
            <p:cNvPr name="TextBox 37" id="37"/>
            <p:cNvSpPr txBox="true"/>
            <p:nvPr/>
          </p:nvSpPr>
          <p:spPr>
            <a:xfrm>
              <a:off x="0" y="-47625"/>
              <a:ext cx="6035040" cy="962025"/>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Automatic slot-status updates</a:t>
              </a:r>
            </a:p>
          </p:txBody>
        </p:sp>
      </p:grpSp>
      <p:grpSp>
        <p:nvGrpSpPr>
          <p:cNvPr name="Group 38" id="38"/>
          <p:cNvGrpSpPr/>
          <p:nvPr/>
        </p:nvGrpSpPr>
        <p:grpSpPr>
          <a:xfrm rot="0">
            <a:off x="960120" y="6103620"/>
            <a:ext cx="548640" cy="548640"/>
            <a:chOff x="0" y="0"/>
            <a:chExt cx="731520" cy="731520"/>
          </a:xfrm>
        </p:grpSpPr>
        <p:sp>
          <p:nvSpPr>
            <p:cNvPr name="Freeform 39" id="3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468C9"/>
            </a:solidFill>
          </p:spPr>
        </p:sp>
      </p:grpSp>
      <p:grpSp>
        <p:nvGrpSpPr>
          <p:cNvPr name="Group 40" id="40"/>
          <p:cNvGrpSpPr/>
          <p:nvPr/>
        </p:nvGrpSpPr>
        <p:grpSpPr>
          <a:xfrm rot="0">
            <a:off x="960120" y="6103620"/>
            <a:ext cx="548640" cy="548640"/>
            <a:chOff x="0" y="0"/>
            <a:chExt cx="731520" cy="731520"/>
          </a:xfrm>
        </p:grpSpPr>
        <p:sp>
          <p:nvSpPr>
            <p:cNvPr name="Freeform 41" id="41"/>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42" id="42"/>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43" id="43"/>
          <p:cNvGrpSpPr/>
          <p:nvPr/>
        </p:nvGrpSpPr>
        <p:grpSpPr>
          <a:xfrm rot="0">
            <a:off x="1714500" y="6035040"/>
            <a:ext cx="4526280" cy="685800"/>
            <a:chOff x="0" y="0"/>
            <a:chExt cx="6035040" cy="914400"/>
          </a:xfrm>
        </p:grpSpPr>
        <p:sp>
          <p:nvSpPr>
            <p:cNvPr name="Freeform 44" id="44"/>
            <p:cNvSpPr/>
            <p:nvPr/>
          </p:nvSpPr>
          <p:spPr>
            <a:xfrm flipH="false" flipV="false" rot="0">
              <a:off x="0" y="0"/>
              <a:ext cx="6035040" cy="914400"/>
            </a:xfrm>
            <a:custGeom>
              <a:avLst/>
              <a:gdLst/>
              <a:ahLst/>
              <a:cxnLst/>
              <a:rect r="r" b="b" t="t" l="l"/>
              <a:pathLst>
                <a:path h="914400" w="6035040">
                  <a:moveTo>
                    <a:pt x="0" y="0"/>
                  </a:moveTo>
                  <a:lnTo>
                    <a:pt x="6035040" y="0"/>
                  </a:lnTo>
                  <a:lnTo>
                    <a:pt x="6035040" y="914400"/>
                  </a:lnTo>
                  <a:lnTo>
                    <a:pt x="0" y="914400"/>
                  </a:lnTo>
                  <a:close/>
                </a:path>
              </a:pathLst>
            </a:custGeom>
            <a:blipFill>
              <a:blip r:embed="rId2">
                <a:alphaModFix amt="0"/>
              </a:blip>
              <a:stretch>
                <a:fillRect l="0" t="-78601" r="0" b="-78601"/>
              </a:stretch>
            </a:blipFill>
          </p:spPr>
        </p:sp>
        <p:sp>
          <p:nvSpPr>
            <p:cNvPr name="TextBox 45" id="45"/>
            <p:cNvSpPr txBox="true"/>
            <p:nvPr/>
          </p:nvSpPr>
          <p:spPr>
            <a:xfrm>
              <a:off x="0" y="-47625"/>
              <a:ext cx="6035040" cy="962025"/>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Real-time slot availability</a:t>
              </a:r>
            </a:p>
          </p:txBody>
        </p:sp>
      </p:grpSp>
      <p:grpSp>
        <p:nvGrpSpPr>
          <p:cNvPr name="Group 46" id="46"/>
          <p:cNvGrpSpPr/>
          <p:nvPr/>
        </p:nvGrpSpPr>
        <p:grpSpPr>
          <a:xfrm rot="0">
            <a:off x="960120" y="7132320"/>
            <a:ext cx="548640" cy="548640"/>
            <a:chOff x="0" y="0"/>
            <a:chExt cx="731520" cy="731520"/>
          </a:xfrm>
        </p:grpSpPr>
        <p:sp>
          <p:nvSpPr>
            <p:cNvPr name="Freeform 47" id="47"/>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468C9"/>
            </a:solidFill>
          </p:spPr>
        </p:sp>
      </p:grpSp>
      <p:grpSp>
        <p:nvGrpSpPr>
          <p:cNvPr name="Group 48" id="48"/>
          <p:cNvGrpSpPr/>
          <p:nvPr/>
        </p:nvGrpSpPr>
        <p:grpSpPr>
          <a:xfrm rot="0">
            <a:off x="960120" y="7132320"/>
            <a:ext cx="548640" cy="548640"/>
            <a:chOff x="0" y="0"/>
            <a:chExt cx="731520" cy="731520"/>
          </a:xfrm>
        </p:grpSpPr>
        <p:sp>
          <p:nvSpPr>
            <p:cNvPr name="Freeform 49" id="49"/>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50" id="50"/>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4</a:t>
              </a:r>
            </a:p>
          </p:txBody>
        </p:sp>
      </p:grpSp>
      <p:grpSp>
        <p:nvGrpSpPr>
          <p:cNvPr name="Group 51" id="51"/>
          <p:cNvGrpSpPr/>
          <p:nvPr/>
        </p:nvGrpSpPr>
        <p:grpSpPr>
          <a:xfrm rot="0">
            <a:off x="1714500" y="7063740"/>
            <a:ext cx="4526280" cy="685800"/>
            <a:chOff x="0" y="0"/>
            <a:chExt cx="6035040" cy="914400"/>
          </a:xfrm>
        </p:grpSpPr>
        <p:sp>
          <p:nvSpPr>
            <p:cNvPr name="Freeform 52" id="52"/>
            <p:cNvSpPr/>
            <p:nvPr/>
          </p:nvSpPr>
          <p:spPr>
            <a:xfrm flipH="false" flipV="false" rot="0">
              <a:off x="0" y="0"/>
              <a:ext cx="6035040" cy="914400"/>
            </a:xfrm>
            <a:custGeom>
              <a:avLst/>
              <a:gdLst/>
              <a:ahLst/>
              <a:cxnLst/>
              <a:rect r="r" b="b" t="t" l="l"/>
              <a:pathLst>
                <a:path h="914400" w="6035040">
                  <a:moveTo>
                    <a:pt x="0" y="0"/>
                  </a:moveTo>
                  <a:lnTo>
                    <a:pt x="6035040" y="0"/>
                  </a:lnTo>
                  <a:lnTo>
                    <a:pt x="6035040" y="914400"/>
                  </a:lnTo>
                  <a:lnTo>
                    <a:pt x="0" y="914400"/>
                  </a:lnTo>
                  <a:close/>
                </a:path>
              </a:pathLst>
            </a:custGeom>
            <a:blipFill>
              <a:blip r:embed="rId2">
                <a:alphaModFix amt="0"/>
              </a:blip>
              <a:stretch>
                <a:fillRect l="0" t="-78601" r="0" b="-78601"/>
              </a:stretch>
            </a:blipFill>
          </p:spPr>
        </p:sp>
        <p:sp>
          <p:nvSpPr>
            <p:cNvPr name="TextBox 53" id="53"/>
            <p:cNvSpPr txBox="true"/>
            <p:nvPr/>
          </p:nvSpPr>
          <p:spPr>
            <a:xfrm>
              <a:off x="0" y="-47625"/>
              <a:ext cx="6035040" cy="962025"/>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Web or desktop interface</a:t>
              </a:r>
            </a:p>
          </p:txBody>
        </p:sp>
      </p:grpSp>
      <p:grpSp>
        <p:nvGrpSpPr>
          <p:cNvPr name="Group 54" id="54"/>
          <p:cNvGrpSpPr/>
          <p:nvPr/>
        </p:nvGrpSpPr>
        <p:grpSpPr>
          <a:xfrm rot="0">
            <a:off x="960120" y="8161020"/>
            <a:ext cx="548640" cy="548640"/>
            <a:chOff x="0" y="0"/>
            <a:chExt cx="731520" cy="731520"/>
          </a:xfrm>
        </p:grpSpPr>
        <p:sp>
          <p:nvSpPr>
            <p:cNvPr name="Freeform 55" id="55"/>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2468C9"/>
            </a:solidFill>
          </p:spPr>
        </p:sp>
      </p:grpSp>
      <p:grpSp>
        <p:nvGrpSpPr>
          <p:cNvPr name="Group 56" id="56"/>
          <p:cNvGrpSpPr/>
          <p:nvPr/>
        </p:nvGrpSpPr>
        <p:grpSpPr>
          <a:xfrm rot="0">
            <a:off x="960120" y="8161020"/>
            <a:ext cx="548640" cy="548640"/>
            <a:chOff x="0" y="0"/>
            <a:chExt cx="731520" cy="731520"/>
          </a:xfrm>
        </p:grpSpPr>
        <p:sp>
          <p:nvSpPr>
            <p:cNvPr name="Freeform 57" id="57"/>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close/>
                </a:path>
              </a:pathLst>
            </a:custGeom>
            <a:blipFill>
              <a:blip r:embed="rId2">
                <a:alphaModFix amt="0"/>
              </a:blip>
              <a:stretch>
                <a:fillRect l="-78303" t="0" r="-78303" b="0"/>
              </a:stretch>
            </a:blipFill>
          </p:spPr>
        </p:sp>
        <p:sp>
          <p:nvSpPr>
            <p:cNvPr name="TextBox 58" id="58"/>
            <p:cNvSpPr txBox="true"/>
            <p:nvPr/>
          </p:nvSpPr>
          <p:spPr>
            <a:xfrm>
              <a:off x="0" y="-47625"/>
              <a:ext cx="731520" cy="779145"/>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5</a:t>
              </a:r>
            </a:p>
          </p:txBody>
        </p:sp>
      </p:grpSp>
      <p:grpSp>
        <p:nvGrpSpPr>
          <p:cNvPr name="Group 59" id="59"/>
          <p:cNvGrpSpPr/>
          <p:nvPr/>
        </p:nvGrpSpPr>
        <p:grpSpPr>
          <a:xfrm rot="0">
            <a:off x="1714500" y="8092440"/>
            <a:ext cx="4526280" cy="685800"/>
            <a:chOff x="0" y="0"/>
            <a:chExt cx="6035040" cy="914400"/>
          </a:xfrm>
        </p:grpSpPr>
        <p:sp>
          <p:nvSpPr>
            <p:cNvPr name="Freeform 60" id="60"/>
            <p:cNvSpPr/>
            <p:nvPr/>
          </p:nvSpPr>
          <p:spPr>
            <a:xfrm flipH="false" flipV="false" rot="0">
              <a:off x="0" y="0"/>
              <a:ext cx="6035040" cy="914400"/>
            </a:xfrm>
            <a:custGeom>
              <a:avLst/>
              <a:gdLst/>
              <a:ahLst/>
              <a:cxnLst/>
              <a:rect r="r" b="b" t="t" l="l"/>
              <a:pathLst>
                <a:path h="914400" w="6035040">
                  <a:moveTo>
                    <a:pt x="0" y="0"/>
                  </a:moveTo>
                  <a:lnTo>
                    <a:pt x="6035040" y="0"/>
                  </a:lnTo>
                  <a:lnTo>
                    <a:pt x="6035040" y="914400"/>
                  </a:lnTo>
                  <a:lnTo>
                    <a:pt x="0" y="914400"/>
                  </a:lnTo>
                  <a:close/>
                </a:path>
              </a:pathLst>
            </a:custGeom>
            <a:blipFill>
              <a:blip r:embed="rId2">
                <a:alphaModFix amt="0"/>
              </a:blip>
              <a:stretch>
                <a:fillRect l="0" t="-78601" r="0" b="-78601"/>
              </a:stretch>
            </a:blipFill>
          </p:spPr>
        </p:sp>
        <p:sp>
          <p:nvSpPr>
            <p:cNvPr name="TextBox 61" id="61"/>
            <p:cNvSpPr txBox="true"/>
            <p:nvPr/>
          </p:nvSpPr>
          <p:spPr>
            <a:xfrm>
              <a:off x="0" y="-47625"/>
              <a:ext cx="6035040" cy="962025"/>
            </a:xfrm>
            <a:prstGeom prst="rect">
              <a:avLst/>
            </a:prstGeom>
          </p:spPr>
          <p:txBody>
            <a:bodyPr anchor="ctr" rtlCol="false" tIns="0" lIns="0" bIns="0" rIns="0"/>
            <a:lstStyle/>
            <a:p>
              <a:pPr algn="l">
                <a:lnSpc>
                  <a:spcPts val="2520"/>
                </a:lnSpc>
              </a:pPr>
              <a:r>
                <a:rPr lang="en-US" sz="2100">
                  <a:solidFill>
                    <a:srgbClr val="0A1A33"/>
                  </a:solidFill>
                  <a:latin typeface="Calibri (MS)"/>
                  <a:ea typeface="Calibri (MS)"/>
                  <a:cs typeface="Calibri (MS)"/>
                  <a:sym typeface="Calibri (MS)"/>
                </a:rPr>
                <a:t>Automated entry and exit recording</a:t>
              </a:r>
            </a:p>
          </p:txBody>
        </p:sp>
      </p:grpSp>
      <p:grpSp>
        <p:nvGrpSpPr>
          <p:cNvPr name="Group 62" id="62"/>
          <p:cNvGrpSpPr/>
          <p:nvPr/>
        </p:nvGrpSpPr>
        <p:grpSpPr>
          <a:xfrm rot="0">
            <a:off x="6720840" y="1988820"/>
            <a:ext cx="5486400" cy="7406640"/>
            <a:chOff x="0" y="0"/>
            <a:chExt cx="7315200" cy="9875520"/>
          </a:xfrm>
        </p:grpSpPr>
        <p:sp>
          <p:nvSpPr>
            <p:cNvPr name="Freeform 63" id="63"/>
            <p:cNvSpPr/>
            <p:nvPr/>
          </p:nvSpPr>
          <p:spPr>
            <a:xfrm flipH="false" flipV="false" rot="0">
              <a:off x="0" y="0"/>
              <a:ext cx="7315200" cy="9875520"/>
            </a:xfrm>
            <a:custGeom>
              <a:avLst/>
              <a:gdLst/>
              <a:ahLst/>
              <a:cxnLst/>
              <a:rect r="r" b="b" t="t" l="l"/>
              <a:pathLst>
                <a:path h="9875520" w="7315200">
                  <a:moveTo>
                    <a:pt x="0" y="182880"/>
                  </a:moveTo>
                  <a:cubicBezTo>
                    <a:pt x="0" y="81915"/>
                    <a:pt x="81915" y="0"/>
                    <a:pt x="182880" y="0"/>
                  </a:cubicBezTo>
                  <a:lnTo>
                    <a:pt x="7132320" y="0"/>
                  </a:lnTo>
                  <a:cubicBezTo>
                    <a:pt x="7233285" y="0"/>
                    <a:pt x="7315200" y="81915"/>
                    <a:pt x="7315200" y="182880"/>
                  </a:cubicBezTo>
                  <a:lnTo>
                    <a:pt x="7315200" y="9692640"/>
                  </a:lnTo>
                  <a:cubicBezTo>
                    <a:pt x="7315200" y="9793605"/>
                    <a:pt x="7233285" y="9875520"/>
                    <a:pt x="7132320" y="9875520"/>
                  </a:cubicBezTo>
                  <a:lnTo>
                    <a:pt x="182880" y="9875520"/>
                  </a:lnTo>
                  <a:cubicBezTo>
                    <a:pt x="81915" y="9875520"/>
                    <a:pt x="0" y="9793605"/>
                    <a:pt x="0" y="9692640"/>
                  </a:cubicBezTo>
                  <a:close/>
                </a:path>
              </a:pathLst>
            </a:custGeom>
            <a:solidFill>
              <a:srgbClr val="0B2A5B"/>
            </a:solidFill>
          </p:spPr>
        </p:sp>
      </p:grpSp>
      <p:grpSp>
        <p:nvGrpSpPr>
          <p:cNvPr name="Group 64" id="64"/>
          <p:cNvGrpSpPr/>
          <p:nvPr/>
        </p:nvGrpSpPr>
        <p:grpSpPr>
          <a:xfrm rot="0">
            <a:off x="6995160" y="2263140"/>
            <a:ext cx="685800" cy="685800"/>
            <a:chOff x="0" y="0"/>
            <a:chExt cx="914400" cy="914400"/>
          </a:xfrm>
        </p:grpSpPr>
        <p:sp>
          <p:nvSpPr>
            <p:cNvPr name="Freeform 65" id="6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6FA8DC"/>
            </a:solidFill>
          </p:spPr>
        </p:sp>
      </p:grpSp>
      <p:grpSp>
        <p:nvGrpSpPr>
          <p:cNvPr name="Group 66" id="66"/>
          <p:cNvGrpSpPr/>
          <p:nvPr/>
        </p:nvGrpSpPr>
        <p:grpSpPr>
          <a:xfrm rot="0">
            <a:off x="7166610" y="2434590"/>
            <a:ext cx="342900" cy="342900"/>
            <a:chOff x="0" y="0"/>
            <a:chExt cx="457200" cy="457200"/>
          </a:xfrm>
        </p:grpSpPr>
        <p:sp>
          <p:nvSpPr>
            <p:cNvPr name="Freeform 67" id="67"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4"/>
              <a:stretch>
                <a:fillRect l="0" t="0" r="0" b="0"/>
              </a:stretch>
            </a:blipFill>
          </p:spPr>
        </p:sp>
      </p:grpSp>
      <p:grpSp>
        <p:nvGrpSpPr>
          <p:cNvPr name="Group 68" id="68"/>
          <p:cNvGrpSpPr/>
          <p:nvPr/>
        </p:nvGrpSpPr>
        <p:grpSpPr>
          <a:xfrm rot="0">
            <a:off x="7886700" y="2263140"/>
            <a:ext cx="4800600" cy="617220"/>
            <a:chOff x="0" y="0"/>
            <a:chExt cx="6400800" cy="822960"/>
          </a:xfrm>
        </p:grpSpPr>
        <p:sp>
          <p:nvSpPr>
            <p:cNvPr name="Freeform 69" id="69"/>
            <p:cNvSpPr/>
            <p:nvPr/>
          </p:nvSpPr>
          <p:spPr>
            <a:xfrm flipH="false" flipV="false" rot="0">
              <a:off x="0" y="0"/>
              <a:ext cx="6400800" cy="822960"/>
            </a:xfrm>
            <a:custGeom>
              <a:avLst/>
              <a:gdLst/>
              <a:ahLst/>
              <a:cxnLst/>
              <a:rect r="r" b="b" t="t" l="l"/>
              <a:pathLst>
                <a:path h="822960" w="6400800">
                  <a:moveTo>
                    <a:pt x="0" y="0"/>
                  </a:moveTo>
                  <a:lnTo>
                    <a:pt x="6400800" y="0"/>
                  </a:lnTo>
                  <a:lnTo>
                    <a:pt x="6400800" y="822960"/>
                  </a:lnTo>
                  <a:lnTo>
                    <a:pt x="0" y="822960"/>
                  </a:lnTo>
                  <a:close/>
                </a:path>
              </a:pathLst>
            </a:custGeom>
            <a:blipFill>
              <a:blip r:embed="rId2">
                <a:alphaModFix amt="0"/>
              </a:blip>
              <a:stretch>
                <a:fillRect l="0" t="-101550" r="0" b="-101550"/>
              </a:stretch>
            </a:blipFill>
          </p:spPr>
        </p:sp>
        <p:sp>
          <p:nvSpPr>
            <p:cNvPr name="TextBox 70" id="70"/>
            <p:cNvSpPr txBox="true"/>
            <p:nvPr/>
          </p:nvSpPr>
          <p:spPr>
            <a:xfrm>
              <a:off x="0" y="-66675"/>
              <a:ext cx="6400800" cy="889635"/>
            </a:xfrm>
            <a:prstGeom prst="rect">
              <a:avLst/>
            </a:prstGeom>
          </p:spPr>
          <p:txBody>
            <a:bodyPr anchor="ctr" rtlCol="false" tIns="0" lIns="0" bIns="0" rIns="0"/>
            <a:lstStyle/>
            <a:p>
              <a:pPr algn="l">
                <a:lnSpc>
                  <a:spcPts val="3600"/>
                </a:lnSpc>
              </a:pPr>
              <a:r>
                <a:rPr lang="en-US" sz="3000" b="true">
                  <a:solidFill>
                    <a:srgbClr val="FFFFFF"/>
                  </a:solidFill>
                  <a:latin typeface="Calibri (MS) Bold"/>
                  <a:ea typeface="Calibri (MS) Bold"/>
                  <a:cs typeface="Calibri (MS) Bold"/>
                  <a:sym typeface="Calibri (MS) Bold"/>
                </a:rPr>
                <a:t>Conclusion</a:t>
              </a:r>
            </a:p>
          </p:txBody>
        </p:sp>
      </p:grpSp>
      <p:sp>
        <p:nvSpPr>
          <p:cNvPr name="TextBox 71" id="71"/>
          <p:cNvSpPr txBox="true"/>
          <p:nvPr/>
        </p:nvSpPr>
        <p:spPr>
          <a:xfrm rot="0">
            <a:off x="6995160" y="3244215"/>
            <a:ext cx="4937760" cy="3613785"/>
          </a:xfrm>
          <a:prstGeom prst="rect">
            <a:avLst/>
          </a:prstGeom>
        </p:spPr>
        <p:txBody>
          <a:bodyPr anchor="t" rtlCol="false" tIns="0" lIns="0" bIns="0" rIns="0">
            <a:spAutoFit/>
          </a:bodyPr>
          <a:lstStyle/>
          <a:p>
            <a:pPr algn="l">
              <a:lnSpc>
                <a:spcPts val="2520"/>
              </a:lnSpc>
            </a:pPr>
            <a:r>
              <a:rPr lang="en-US" sz="2100">
                <a:solidFill>
                  <a:srgbClr val="CFE3FA"/>
                </a:solidFill>
                <a:latin typeface="Calibri (MS)"/>
                <a:ea typeface="Calibri (MS)"/>
                <a:cs typeface="Calibri (MS)"/>
                <a:sym typeface="Calibri (MS)"/>
              </a:rPr>
              <a:t>The project applies core DBMS concepts:</a:t>
            </a:r>
          </a:p>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Relational design with four related tables</a:t>
            </a:r>
          </a:p>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Primary keys, foreign keys and constraints for integrity</a:t>
            </a:r>
          </a:p>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SQL queries and JOINs across tables</a:t>
            </a:r>
          </a:p>
          <a:p>
            <a:pPr algn="l" marL="380048" indent="-190024" lvl="1">
              <a:lnSpc>
                <a:spcPts val="2520"/>
              </a:lnSpc>
              <a:buFont typeface="Arial"/>
              <a:buChar char="•"/>
            </a:pPr>
            <a:r>
              <a:rPr lang="en-US" sz="2100">
                <a:solidFill>
                  <a:srgbClr val="FFFFFF"/>
                </a:solidFill>
                <a:latin typeface="Calibri (MS)"/>
                <a:ea typeface="Calibri (MS)"/>
                <a:cs typeface="Calibri (MS)"/>
                <a:sym typeface="Calibri (MS)"/>
              </a:rPr>
              <a:t>Aggregate functions for revenue</a:t>
            </a:r>
          </a:p>
        </p:txBody>
      </p:sp>
      <p:sp>
        <p:nvSpPr>
          <p:cNvPr name="TextBox 72" id="72"/>
          <p:cNvSpPr txBox="true"/>
          <p:nvPr/>
        </p:nvSpPr>
        <p:spPr>
          <a:xfrm rot="0">
            <a:off x="6995160" y="7250430"/>
            <a:ext cx="2194560" cy="1116330"/>
          </a:xfrm>
          <a:prstGeom prst="rect">
            <a:avLst/>
          </a:prstGeom>
        </p:spPr>
        <p:txBody>
          <a:bodyPr anchor="t" rtlCol="false" tIns="0" lIns="0" bIns="0" rIns="0">
            <a:spAutoFit/>
          </a:bodyPr>
          <a:lstStyle/>
          <a:p>
            <a:pPr algn="l">
              <a:lnSpc>
                <a:spcPts val="8640"/>
              </a:lnSpc>
            </a:pPr>
            <a:r>
              <a:rPr lang="en-US" sz="7200" b="true">
                <a:solidFill>
                  <a:srgbClr val="FFFFFF"/>
                </a:solidFill>
                <a:latin typeface="Cambria Bold"/>
                <a:ea typeface="Cambria Bold"/>
                <a:cs typeface="Cambria Bold"/>
                <a:sym typeface="Cambria Bold"/>
              </a:rPr>
              <a:t>4</a:t>
            </a:r>
          </a:p>
        </p:txBody>
      </p:sp>
      <p:sp>
        <p:nvSpPr>
          <p:cNvPr name="TextBox 73" id="73"/>
          <p:cNvSpPr txBox="true"/>
          <p:nvPr/>
        </p:nvSpPr>
        <p:spPr>
          <a:xfrm rot="0">
            <a:off x="6995160" y="8387715"/>
            <a:ext cx="2194560" cy="527685"/>
          </a:xfrm>
          <a:prstGeom prst="rect">
            <a:avLst/>
          </a:prstGeom>
        </p:spPr>
        <p:txBody>
          <a:bodyPr anchor="t" rtlCol="false" tIns="0" lIns="0" bIns="0" rIns="0">
            <a:spAutoFit/>
          </a:bodyPr>
          <a:lstStyle/>
          <a:p>
            <a:pPr algn="l">
              <a:lnSpc>
                <a:spcPts val="2520"/>
              </a:lnSpc>
            </a:pPr>
            <a:r>
              <a:rPr lang="en-US" sz="2100">
                <a:solidFill>
                  <a:srgbClr val="CFE3FA"/>
                </a:solidFill>
                <a:latin typeface="Calibri (MS)"/>
                <a:ea typeface="Calibri (MS)"/>
                <a:cs typeface="Calibri (MS)"/>
                <a:sym typeface="Calibri (MS)"/>
              </a:rPr>
              <a:t>Tables</a:t>
            </a:r>
          </a:p>
        </p:txBody>
      </p:sp>
      <p:sp>
        <p:nvSpPr>
          <p:cNvPr name="TextBox 74" id="74"/>
          <p:cNvSpPr txBox="true"/>
          <p:nvPr/>
        </p:nvSpPr>
        <p:spPr>
          <a:xfrm rot="0">
            <a:off x="9464040" y="7250430"/>
            <a:ext cx="2194560" cy="1116330"/>
          </a:xfrm>
          <a:prstGeom prst="rect">
            <a:avLst/>
          </a:prstGeom>
        </p:spPr>
        <p:txBody>
          <a:bodyPr anchor="t" rtlCol="false" tIns="0" lIns="0" bIns="0" rIns="0">
            <a:spAutoFit/>
          </a:bodyPr>
          <a:lstStyle/>
          <a:p>
            <a:pPr algn="l">
              <a:lnSpc>
                <a:spcPts val="8640"/>
              </a:lnSpc>
            </a:pPr>
            <a:r>
              <a:rPr lang="en-US" sz="7200" b="true">
                <a:solidFill>
                  <a:srgbClr val="FFFFFF"/>
                </a:solidFill>
                <a:latin typeface="Cambria Bold"/>
                <a:ea typeface="Cambria Bold"/>
                <a:cs typeface="Cambria Bold"/>
                <a:sym typeface="Cambria Bold"/>
              </a:rPr>
              <a:t>3</a:t>
            </a:r>
          </a:p>
        </p:txBody>
      </p:sp>
      <p:sp>
        <p:nvSpPr>
          <p:cNvPr name="TextBox 75" id="75"/>
          <p:cNvSpPr txBox="true"/>
          <p:nvPr/>
        </p:nvSpPr>
        <p:spPr>
          <a:xfrm rot="0">
            <a:off x="9464040" y="8387715"/>
            <a:ext cx="2194560" cy="527685"/>
          </a:xfrm>
          <a:prstGeom prst="rect">
            <a:avLst/>
          </a:prstGeom>
        </p:spPr>
        <p:txBody>
          <a:bodyPr anchor="t" rtlCol="false" tIns="0" lIns="0" bIns="0" rIns="0">
            <a:spAutoFit/>
          </a:bodyPr>
          <a:lstStyle/>
          <a:p>
            <a:pPr algn="l">
              <a:lnSpc>
                <a:spcPts val="2520"/>
              </a:lnSpc>
            </a:pPr>
            <a:r>
              <a:rPr lang="en-US" sz="2100">
                <a:solidFill>
                  <a:srgbClr val="CFE3FA"/>
                </a:solidFill>
                <a:latin typeface="Calibri (MS)"/>
                <a:ea typeface="Calibri (MS)"/>
                <a:cs typeface="Calibri (MS)"/>
                <a:sym typeface="Calibri (MS)"/>
              </a:rPr>
              <a:t>Relationships</a:t>
            </a:r>
          </a:p>
        </p:txBody>
      </p:sp>
      <p:grpSp>
        <p:nvGrpSpPr>
          <p:cNvPr name="Group 76" id="76"/>
          <p:cNvGrpSpPr/>
          <p:nvPr/>
        </p:nvGrpSpPr>
        <p:grpSpPr>
          <a:xfrm rot="0">
            <a:off x="12481560" y="1988820"/>
            <a:ext cx="5116068" cy="7406640"/>
            <a:chOff x="0" y="0"/>
            <a:chExt cx="6821424" cy="9875520"/>
          </a:xfrm>
        </p:grpSpPr>
        <p:sp>
          <p:nvSpPr>
            <p:cNvPr name="Freeform 77" id="77"/>
            <p:cNvSpPr/>
            <p:nvPr/>
          </p:nvSpPr>
          <p:spPr>
            <a:xfrm flipH="false" flipV="false" rot="0">
              <a:off x="0" y="0"/>
              <a:ext cx="6821424" cy="9875520"/>
            </a:xfrm>
            <a:custGeom>
              <a:avLst/>
              <a:gdLst/>
              <a:ahLst/>
              <a:cxnLst/>
              <a:rect r="r" b="b" t="t" l="l"/>
              <a:pathLst>
                <a:path h="9875520" w="6821424">
                  <a:moveTo>
                    <a:pt x="0" y="182880"/>
                  </a:moveTo>
                  <a:cubicBezTo>
                    <a:pt x="0" y="81915"/>
                    <a:pt x="81915" y="0"/>
                    <a:pt x="182880" y="0"/>
                  </a:cubicBezTo>
                  <a:lnTo>
                    <a:pt x="6638544" y="0"/>
                  </a:lnTo>
                  <a:cubicBezTo>
                    <a:pt x="6739509" y="0"/>
                    <a:pt x="6821424" y="81915"/>
                    <a:pt x="6821424" y="182880"/>
                  </a:cubicBezTo>
                  <a:lnTo>
                    <a:pt x="6821424" y="9692640"/>
                  </a:lnTo>
                  <a:cubicBezTo>
                    <a:pt x="6821424" y="9793605"/>
                    <a:pt x="6739509" y="9875520"/>
                    <a:pt x="6638544" y="9875520"/>
                  </a:cubicBezTo>
                  <a:lnTo>
                    <a:pt x="182880" y="9875520"/>
                  </a:lnTo>
                  <a:cubicBezTo>
                    <a:pt x="81915" y="9875520"/>
                    <a:pt x="0" y="9793605"/>
                    <a:pt x="0" y="9692640"/>
                  </a:cubicBezTo>
                  <a:close/>
                </a:path>
              </a:pathLst>
            </a:custGeom>
            <a:solidFill>
              <a:srgbClr val="EAF2FC"/>
            </a:solidFill>
          </p:spPr>
        </p:sp>
      </p:grpSp>
      <p:grpSp>
        <p:nvGrpSpPr>
          <p:cNvPr name="Group 78" id="78"/>
          <p:cNvGrpSpPr/>
          <p:nvPr/>
        </p:nvGrpSpPr>
        <p:grpSpPr>
          <a:xfrm rot="0">
            <a:off x="12755880" y="2263140"/>
            <a:ext cx="685800" cy="685800"/>
            <a:chOff x="0" y="0"/>
            <a:chExt cx="914400" cy="914400"/>
          </a:xfrm>
        </p:grpSpPr>
        <p:sp>
          <p:nvSpPr>
            <p:cNvPr name="Freeform 79" id="79"/>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2468C9"/>
            </a:solidFill>
          </p:spPr>
        </p:sp>
      </p:grpSp>
      <p:grpSp>
        <p:nvGrpSpPr>
          <p:cNvPr name="Group 80" id="80"/>
          <p:cNvGrpSpPr/>
          <p:nvPr/>
        </p:nvGrpSpPr>
        <p:grpSpPr>
          <a:xfrm rot="0">
            <a:off x="12927330" y="2434590"/>
            <a:ext cx="342900" cy="342900"/>
            <a:chOff x="0" y="0"/>
            <a:chExt cx="457200" cy="457200"/>
          </a:xfrm>
        </p:grpSpPr>
        <p:sp>
          <p:nvSpPr>
            <p:cNvPr name="Freeform 81" id="81" descr="preencoded.png"/>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5"/>
              <a:stretch>
                <a:fillRect l="0" t="0" r="0" b="0"/>
              </a:stretch>
            </a:blipFill>
          </p:spPr>
        </p:sp>
      </p:grpSp>
      <p:grpSp>
        <p:nvGrpSpPr>
          <p:cNvPr name="Group 82" id="82"/>
          <p:cNvGrpSpPr/>
          <p:nvPr/>
        </p:nvGrpSpPr>
        <p:grpSpPr>
          <a:xfrm rot="0">
            <a:off x="13647420" y="2263140"/>
            <a:ext cx="4800600" cy="617220"/>
            <a:chOff x="0" y="0"/>
            <a:chExt cx="6400800" cy="822960"/>
          </a:xfrm>
        </p:grpSpPr>
        <p:sp>
          <p:nvSpPr>
            <p:cNvPr name="Freeform 83" id="83"/>
            <p:cNvSpPr/>
            <p:nvPr/>
          </p:nvSpPr>
          <p:spPr>
            <a:xfrm flipH="false" flipV="false" rot="0">
              <a:off x="0" y="0"/>
              <a:ext cx="6400800" cy="822960"/>
            </a:xfrm>
            <a:custGeom>
              <a:avLst/>
              <a:gdLst/>
              <a:ahLst/>
              <a:cxnLst/>
              <a:rect r="r" b="b" t="t" l="l"/>
              <a:pathLst>
                <a:path h="822960" w="6400800">
                  <a:moveTo>
                    <a:pt x="0" y="0"/>
                  </a:moveTo>
                  <a:lnTo>
                    <a:pt x="6400800" y="0"/>
                  </a:lnTo>
                  <a:lnTo>
                    <a:pt x="6400800" y="822960"/>
                  </a:lnTo>
                  <a:lnTo>
                    <a:pt x="0" y="822960"/>
                  </a:lnTo>
                  <a:close/>
                </a:path>
              </a:pathLst>
            </a:custGeom>
            <a:blipFill>
              <a:blip r:embed="rId2">
                <a:alphaModFix amt="0"/>
              </a:blip>
              <a:stretch>
                <a:fillRect l="0" t="-101550" r="0" b="-101550"/>
              </a:stretch>
            </a:blipFill>
          </p:spPr>
        </p:sp>
        <p:sp>
          <p:nvSpPr>
            <p:cNvPr name="TextBox 84" id="84"/>
            <p:cNvSpPr txBox="true"/>
            <p:nvPr/>
          </p:nvSpPr>
          <p:spPr>
            <a:xfrm>
              <a:off x="0" y="-66675"/>
              <a:ext cx="6400800" cy="889635"/>
            </a:xfrm>
            <a:prstGeom prst="rect">
              <a:avLst/>
            </a:prstGeom>
          </p:spPr>
          <p:txBody>
            <a:bodyPr anchor="ctr" rtlCol="false" tIns="0" lIns="0" bIns="0" rIns="0"/>
            <a:lstStyle/>
            <a:p>
              <a:pPr algn="l">
                <a:lnSpc>
                  <a:spcPts val="3600"/>
                </a:lnSpc>
              </a:pPr>
              <a:r>
                <a:rPr lang="en-US" sz="3000" b="true">
                  <a:solidFill>
                    <a:srgbClr val="0B2A5B"/>
                  </a:solidFill>
                  <a:latin typeface="Calibri (MS) Bold"/>
                  <a:ea typeface="Calibri (MS) Bold"/>
                  <a:cs typeface="Calibri (MS) Bold"/>
                  <a:sym typeface="Calibri (MS) Bold"/>
                </a:rPr>
                <a:t>References</a:t>
              </a:r>
            </a:p>
          </p:txBody>
        </p:sp>
      </p:grpSp>
      <p:sp>
        <p:nvSpPr>
          <p:cNvPr name="TextBox 85" id="85"/>
          <p:cNvSpPr txBox="true"/>
          <p:nvPr/>
        </p:nvSpPr>
        <p:spPr>
          <a:xfrm rot="0">
            <a:off x="12755880" y="3253740"/>
            <a:ext cx="4594860" cy="5935980"/>
          </a:xfrm>
          <a:prstGeom prst="rect">
            <a:avLst/>
          </a:prstGeom>
        </p:spPr>
        <p:txBody>
          <a:bodyPr anchor="t" rtlCol="false" tIns="0" lIns="0" bIns="0" rIns="0">
            <a:spAutoFit/>
          </a:bodyPr>
          <a:lstStyle/>
          <a:p>
            <a:pPr algn="l">
              <a:lnSpc>
                <a:spcPts val="2160"/>
              </a:lnSpc>
            </a:pPr>
            <a:r>
              <a:rPr lang="en-US" sz="1800">
                <a:solidFill>
                  <a:srgbClr val="0A1A33"/>
                </a:solidFill>
                <a:latin typeface="Calibri (MS)"/>
                <a:ea typeface="Calibri (MS)"/>
                <a:cs typeface="Calibri (MS)"/>
                <a:sym typeface="Calibri (MS)"/>
              </a:rPr>
              <a:t>MySQL 5.5 Reference Manual. Oracle Corporation.</a:t>
            </a:r>
          </a:p>
          <a:p>
            <a:pPr algn="l">
              <a:lnSpc>
                <a:spcPts val="2160"/>
              </a:lnSpc>
            </a:pPr>
            <a:r>
              <a:rPr lang="en-US" sz="1800" u="sng">
                <a:solidFill>
                  <a:srgbClr val="0A1A33"/>
                </a:solidFill>
                <a:latin typeface="Calibri (MS)"/>
                <a:ea typeface="Calibri (MS)"/>
                <a:cs typeface="Calibri (MS)"/>
                <a:sym typeface="Calibri (MS)"/>
                <a:hlinkClick r:id="rId6" tooltip="https://dev.mysql.com/doc/refman/5.5/en/"/>
              </a:rPr>
              <a:t>https://dev.mysql.com/doc/refman/5.5/en/</a:t>
            </a:r>
          </a:p>
          <a:p>
            <a:pPr algn="l">
              <a:lnSpc>
                <a:spcPts val="2160"/>
              </a:lnSpc>
            </a:pPr>
            <a:r>
              <a:rPr lang="en-US" sz="1800">
                <a:solidFill>
                  <a:srgbClr val="0A1A33"/>
                </a:solidFill>
                <a:latin typeface="Calibri (MS)"/>
                <a:ea typeface="Calibri (MS)"/>
                <a:cs typeface="Calibri (MS)"/>
                <a:sym typeface="Calibri (MS)"/>
              </a:rPr>
              <a:t>Silberschatz, Korth &amp; Sudarshan. Database System Concepts, 7th ed. McGraw-Hill, 2019.</a:t>
            </a:r>
          </a:p>
          <a:p>
            <a:pPr algn="l">
              <a:lnSpc>
                <a:spcPts val="2160"/>
              </a:lnSpc>
            </a:pPr>
            <a:r>
              <a:rPr lang="en-US" sz="1800" u="sng">
                <a:solidFill>
                  <a:srgbClr val="0A1A33"/>
                </a:solidFill>
                <a:latin typeface="Calibri (MS)"/>
                <a:ea typeface="Calibri (MS)"/>
                <a:cs typeface="Calibri (MS)"/>
                <a:sym typeface="Calibri (MS)"/>
                <a:hlinkClick r:id="rId7" tooltip="https://www.db-book.com/"/>
              </a:rPr>
              <a:t>https://www.db-book.com/</a:t>
            </a:r>
          </a:p>
          <a:p>
            <a:pPr algn="l">
              <a:lnSpc>
                <a:spcPts val="2160"/>
              </a:lnSpc>
            </a:pPr>
            <a:r>
              <a:rPr lang="en-US" sz="1800">
                <a:solidFill>
                  <a:srgbClr val="0A1A33"/>
                </a:solidFill>
                <a:latin typeface="Calibri (MS)"/>
                <a:ea typeface="Calibri (MS)"/>
                <a:cs typeface="Calibri (MS)"/>
                <a:sym typeface="Calibri (MS)"/>
              </a:rPr>
              <a:t>Elmasri &amp; Navathe. Fundamentals of Database Systems, 7th ed. Pearson, 2016.</a:t>
            </a:r>
          </a:p>
          <a:p>
            <a:pPr algn="l">
              <a:lnSpc>
                <a:spcPts val="2160"/>
              </a:lnSpc>
            </a:pPr>
            <a:r>
              <a:rPr lang="en-US" sz="1800">
                <a:solidFill>
                  <a:srgbClr val="0A1A33"/>
                </a:solidFill>
                <a:latin typeface="Calibri (MS)"/>
                <a:ea typeface="Calibri (MS)"/>
                <a:cs typeface="Calibri (MS)"/>
                <a:sym typeface="Calibri (MS)"/>
              </a:rPr>
              <a:t>Ramakrishnan &amp; Gehrke. Database Management Systems, 3rd ed. McGraw-Hill, 2003.</a:t>
            </a:r>
          </a:p>
        </p:txBody>
      </p:sp>
      <p:sp>
        <p:nvSpPr>
          <p:cNvPr name="TextBox 86" id="86"/>
          <p:cNvSpPr txBox="true"/>
          <p:nvPr/>
        </p:nvSpPr>
        <p:spPr>
          <a:xfrm rot="0">
            <a:off x="16824960" y="9677400"/>
            <a:ext cx="681228" cy="358140"/>
          </a:xfrm>
          <a:prstGeom prst="rect">
            <a:avLst/>
          </a:prstGeom>
        </p:spPr>
        <p:txBody>
          <a:bodyPr anchor="t" rtlCol="false" tIns="0" lIns="0" bIns="0" rIns="0">
            <a:spAutoFit/>
          </a:bodyPr>
          <a:lstStyle/>
          <a:p>
            <a:pPr algn="r">
              <a:lnSpc>
                <a:spcPts val="1800"/>
              </a:lnSpc>
            </a:pPr>
            <a:r>
              <a:rPr lang="en-US" sz="1500">
                <a:solidFill>
                  <a:srgbClr val="0B2A5B"/>
                </a:solidFill>
                <a:latin typeface="Calibri (MS)"/>
                <a:ea typeface="Calibri (MS)"/>
                <a:cs typeface="Calibri (MS)"/>
                <a:sym typeface="Calibri (MS)"/>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DAHX6KUmV10</dc:identifier>
  <dcterms:modified xsi:type="dcterms:W3CDTF">2011-08-01T06:04:30Z</dcterms:modified>
  <cp:revision>1</cp:revision>
  <dc:title>DBMS Mini project</dc:title>
</cp:coreProperties>
</file>